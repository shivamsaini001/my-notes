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8" r:id="rId2"/>
    <p:sldId id="259" r:id="rId3"/>
    <p:sldId id="257" r:id="rId4"/>
    <p:sldId id="270" r:id="rId5"/>
    <p:sldId id="271" r:id="rId6"/>
    <p:sldId id="272" r:id="rId7"/>
    <p:sldId id="273" r:id="rId8"/>
    <p:sldId id="274" r:id="rId9"/>
    <p:sldId id="275" r:id="rId10"/>
    <p:sldId id="26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DB1F99-E847-434F-843B-1518DB48C0EE}">
          <p14:sldIdLst/>
        </p14:section>
        <p14:section name="Untitled Section" id="{1EA9B091-F381-4C07-A642-104759A1A856}">
          <p14:sldIdLst>
            <p14:sldId id="258"/>
            <p14:sldId id="259"/>
            <p14:sldId id="257"/>
            <p14:sldId id="270"/>
            <p14:sldId id="271"/>
            <p14:sldId id="272"/>
            <p14:sldId id="273"/>
            <p14:sldId id="274"/>
            <p14:sldId id="275"/>
            <p14:sldId id="26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876" y="66"/>
      </p:cViewPr>
      <p:guideLst/>
    </p:cSldViewPr>
  </p:slideViewPr>
  <p:notesTextViewPr>
    <p:cViewPr>
      <p:scale>
        <a:sx n="1" d="1"/>
        <a:sy n="1" d="1"/>
      </p:scale>
      <p:origin x="0" y="0"/>
    </p:cViewPr>
  </p:notesTextViewPr>
  <p:notesViewPr>
    <p:cSldViewPr snapToGrid="0">
      <p:cViewPr varScale="1">
        <p:scale>
          <a:sx n="53" d="100"/>
          <a:sy n="53" d="100"/>
        </p:scale>
        <p:origin x="29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C8CEE-E3E3-4FCD-8155-E890BD737E89}"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IN"/>
        </a:p>
      </dgm:t>
    </dgm:pt>
    <dgm:pt modelId="{F9C8F273-1DF8-4CB8-82E0-FCBF6B1FFF69}">
      <dgm:prSet/>
      <dgm:spPr/>
      <dgm:t>
        <a:bodyPr/>
        <a:lstStyle/>
        <a:p>
          <a:pPr algn="ctr"/>
          <a:r>
            <a:rPr lang="en-IN" dirty="0"/>
            <a:t>Basic Structure of MySQL</a:t>
          </a:r>
        </a:p>
      </dgm:t>
    </dgm:pt>
    <dgm:pt modelId="{041C66B3-ADCF-40B1-A7D7-8C4F7AA2BE69}" type="parTrans" cxnId="{7D023B64-81BA-4B76-B7FD-3DE6DF316F2A}">
      <dgm:prSet/>
      <dgm:spPr/>
      <dgm:t>
        <a:bodyPr/>
        <a:lstStyle/>
        <a:p>
          <a:endParaRPr lang="en-IN"/>
        </a:p>
      </dgm:t>
    </dgm:pt>
    <dgm:pt modelId="{3F481E50-7D51-48A7-A601-15AF953AD0E5}" type="sibTrans" cxnId="{7D023B64-81BA-4B76-B7FD-3DE6DF316F2A}">
      <dgm:prSet/>
      <dgm:spPr/>
      <dgm:t>
        <a:bodyPr/>
        <a:lstStyle/>
        <a:p>
          <a:endParaRPr lang="en-IN"/>
        </a:p>
      </dgm:t>
    </dgm:pt>
    <dgm:pt modelId="{6E9C94D1-64AF-4F81-BE40-4461F955BBAE}" type="pres">
      <dgm:prSet presAssocID="{AF0C8CEE-E3E3-4FCD-8155-E890BD737E89}" presName="linear" presStyleCnt="0">
        <dgm:presLayoutVars>
          <dgm:animLvl val="lvl"/>
          <dgm:resizeHandles val="exact"/>
        </dgm:presLayoutVars>
      </dgm:prSet>
      <dgm:spPr/>
    </dgm:pt>
    <dgm:pt modelId="{D56F82BD-0E33-4643-B400-0269C3F0C091}" type="pres">
      <dgm:prSet presAssocID="{F9C8F273-1DF8-4CB8-82E0-FCBF6B1FFF69}" presName="parentText" presStyleLbl="node1" presStyleIdx="0" presStyleCnt="1">
        <dgm:presLayoutVars>
          <dgm:chMax val="0"/>
          <dgm:bulletEnabled val="1"/>
        </dgm:presLayoutVars>
      </dgm:prSet>
      <dgm:spPr/>
    </dgm:pt>
  </dgm:ptLst>
  <dgm:cxnLst>
    <dgm:cxn modelId="{2EC5270E-62EB-4386-8F4A-1FF0EDF60075}" type="presOf" srcId="{F9C8F273-1DF8-4CB8-82E0-FCBF6B1FFF69}" destId="{D56F82BD-0E33-4643-B400-0269C3F0C091}" srcOrd="0" destOrd="0" presId="urn:microsoft.com/office/officeart/2005/8/layout/vList2"/>
    <dgm:cxn modelId="{7D023B64-81BA-4B76-B7FD-3DE6DF316F2A}" srcId="{AF0C8CEE-E3E3-4FCD-8155-E890BD737E89}" destId="{F9C8F273-1DF8-4CB8-82E0-FCBF6B1FFF69}" srcOrd="0" destOrd="0" parTransId="{041C66B3-ADCF-40B1-A7D7-8C4F7AA2BE69}" sibTransId="{3F481E50-7D51-48A7-A601-15AF953AD0E5}"/>
    <dgm:cxn modelId="{66A5A2F1-51B3-437E-A9E9-16933FD994A0}" type="presOf" srcId="{AF0C8CEE-E3E3-4FCD-8155-E890BD737E89}" destId="{6E9C94D1-64AF-4F81-BE40-4461F955BBAE}" srcOrd="0" destOrd="0" presId="urn:microsoft.com/office/officeart/2005/8/layout/vList2"/>
    <dgm:cxn modelId="{0AFD20BE-AEA2-42E4-B909-CF8B6386330F}" type="presParOf" srcId="{6E9C94D1-64AF-4F81-BE40-4461F955BBAE}" destId="{D56F82BD-0E33-4643-B400-0269C3F0C09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6F82BD-0E33-4643-B400-0269C3F0C091}">
      <dsp:nvSpPr>
        <dsp:cNvPr id="0" name=""/>
        <dsp:cNvSpPr/>
      </dsp:nvSpPr>
      <dsp:spPr>
        <a:xfrm>
          <a:off x="0" y="10599"/>
          <a:ext cx="10515600" cy="623610"/>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Basic Structure of MySQL</a:t>
          </a:r>
        </a:p>
      </dsp:txBody>
      <dsp:txXfrm>
        <a:off x="30442" y="41041"/>
        <a:ext cx="10454716" cy="5627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DFFAA3-A871-4C1A-9EDF-97A62394AC6D}" type="datetimeFigureOut">
              <a:rPr lang="en-IN" smtClean="0"/>
              <a:t>05-12-2023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8E24B-C5B0-4970-AEDA-6429DAA2077C}" type="slidenum">
              <a:rPr lang="en-IN" smtClean="0"/>
              <a:t>‹#›</a:t>
            </a:fld>
            <a:endParaRPr lang="en-IN"/>
          </a:p>
        </p:txBody>
      </p:sp>
    </p:spTree>
    <p:extLst>
      <p:ext uri="{BB962C8B-B14F-4D97-AF65-F5344CB8AC3E}">
        <p14:creationId xmlns:p14="http://schemas.microsoft.com/office/powerpoint/2010/main" val="2970654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58E24B-C5B0-4970-AEDA-6429DAA2077C}" type="slidenum">
              <a:rPr lang="en-IN" smtClean="0"/>
              <a:t>1</a:t>
            </a:fld>
            <a:endParaRPr lang="en-IN"/>
          </a:p>
        </p:txBody>
      </p:sp>
    </p:spTree>
    <p:extLst>
      <p:ext uri="{BB962C8B-B14F-4D97-AF65-F5344CB8AC3E}">
        <p14:creationId xmlns:p14="http://schemas.microsoft.com/office/powerpoint/2010/main" val="907253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58E24B-C5B0-4970-AEDA-6429DAA2077C}" type="slidenum">
              <a:rPr lang="en-IN" smtClean="0"/>
              <a:t>6</a:t>
            </a:fld>
            <a:endParaRPr lang="en-IN"/>
          </a:p>
        </p:txBody>
      </p:sp>
    </p:spTree>
    <p:extLst>
      <p:ext uri="{BB962C8B-B14F-4D97-AF65-F5344CB8AC3E}">
        <p14:creationId xmlns:p14="http://schemas.microsoft.com/office/powerpoint/2010/main" val="1758974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629F-E57C-49F9-BE37-6882C2E1B3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169158-7004-499B-B7C8-6CFB2F989E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E514F1-D258-4E55-A576-BC163C1397B4}"/>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A7AF2093-10D7-4A64-B5C4-FB0E37069A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881DA9-DDCE-40CB-9383-ACDA058AB45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2326567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35D5B-6CC2-47B7-B274-466E9C4F31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5A349E-CE63-4D75-A019-C376AE211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1E79C3-57DF-4434-B1CD-F6E22236039F}"/>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8A9B3951-18E4-40AF-A4B9-E7D87FC073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3D640-30A4-478B-BABF-62B646F3853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24978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E2C6-9551-4BC5-AF32-37EAEB7B4F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119BCE-460D-4FCD-ACC5-8761B67231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6869E-89A0-45B7-8F21-5860D2E3F8FF}"/>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A3B8CF8C-6E60-46CE-8641-FBB957B78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E4F1CE-52E5-4741-8624-CC4E573AFAD1}"/>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9290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1829-71DE-491D-A98E-8440640A60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9CD81D-1BD8-4CDE-AF8F-715F894F1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A0E9E8-C2CE-4771-A61C-57385D807A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9DF9B9-11B9-4E5B-813F-EDEE6B01015E}"/>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6" name="Footer Placeholder 5">
            <a:extLst>
              <a:ext uri="{FF2B5EF4-FFF2-40B4-BE49-F238E27FC236}">
                <a16:creationId xmlns:a16="http://schemas.microsoft.com/office/drawing/2014/main" id="{61C3218B-13C9-480E-B29B-298823E850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66D7AC-89CC-415D-B008-DF25844BA80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426103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B4F75-40B9-4B8F-ADF7-8A1A4A1A52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627B69-6F0C-4953-B0B1-89E8C6516B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4EBB58-D91B-4731-A89B-EBA43FB30E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5426F7-7900-4137-8432-5F6EE41D80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ECAFF-640D-411E-9567-F897301978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AB7402-7986-4A44-82CD-F612E802AD69}"/>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8" name="Footer Placeholder 7">
            <a:extLst>
              <a:ext uri="{FF2B5EF4-FFF2-40B4-BE49-F238E27FC236}">
                <a16:creationId xmlns:a16="http://schemas.microsoft.com/office/drawing/2014/main" id="{814EBE60-B597-4265-89FB-43C8CC78D0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54388B-D892-471D-8E70-8CF447744E0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3170592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90E4-62A7-460D-9841-2D28C27597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CA0715-1257-4E6B-A69A-94B4AAA18DBB}"/>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4" name="Footer Placeholder 3">
            <a:extLst>
              <a:ext uri="{FF2B5EF4-FFF2-40B4-BE49-F238E27FC236}">
                <a16:creationId xmlns:a16="http://schemas.microsoft.com/office/drawing/2014/main" id="{C3C26CBB-8D5E-4961-ABEF-CCB7819E7B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954414-1907-4BBA-A7DE-718A1B90243C}"/>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376854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D0C699-34AC-47B6-ADFA-1343E6BA01B1}"/>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3" name="Footer Placeholder 2">
            <a:extLst>
              <a:ext uri="{FF2B5EF4-FFF2-40B4-BE49-F238E27FC236}">
                <a16:creationId xmlns:a16="http://schemas.microsoft.com/office/drawing/2014/main" id="{6EB4B3EE-7F80-4FA8-A8E4-2F3200E261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471411-4600-4232-B89F-06CC396C49C3}"/>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142106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7909-F601-452E-B9BC-544134EDC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B45E7B-F4F6-41F4-817B-A90D34EE4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4EA553-F3AD-4146-93E6-CCF9B571B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DFC4FA-A007-40A6-B7A4-DC320CC00300}"/>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6" name="Footer Placeholder 5">
            <a:extLst>
              <a:ext uri="{FF2B5EF4-FFF2-40B4-BE49-F238E27FC236}">
                <a16:creationId xmlns:a16="http://schemas.microsoft.com/office/drawing/2014/main" id="{2CB45A2E-BFD2-4591-9021-BB91305864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9EB06A-DE2B-420F-96A8-DCC48D56A12B}"/>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3476174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5C002-554C-4C2A-99A3-8BE1CFCF8B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5FF73F-0BFA-4750-BB97-D9BE16C0A4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9801A2-35FB-4968-BF42-0ABF101EAC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6E86C-CF8F-4CEB-82A6-836B8B79868D}"/>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6" name="Footer Placeholder 5">
            <a:extLst>
              <a:ext uri="{FF2B5EF4-FFF2-40B4-BE49-F238E27FC236}">
                <a16:creationId xmlns:a16="http://schemas.microsoft.com/office/drawing/2014/main" id="{575E282B-B694-49BA-BFF0-FFE887E7EC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0872F3-C40A-4613-A254-6FB07EA8A03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3444590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ACB4-A711-476A-8F66-6B62CC1361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BA8ED3-C2F6-4849-ADE8-117BBC58F6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955E15-6767-4053-B5EB-9CAE1DF4B1F8}"/>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9DC4F2E3-9606-4C8F-AC97-6C6FC26FDF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4E43F-97EC-4EC0-B7F3-9A4358B33B06}"/>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2937968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E6F4FB-72DB-48A2-9CFB-99E2CE471D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ED3D04-D77B-46F4-9FF2-CC44CFEB46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597C7D-92FD-4C4F-BB48-291A9B1EF5C7}"/>
              </a:ext>
            </a:extLst>
          </p:cNvPr>
          <p:cNvSpPr>
            <a:spLocks noGrp="1"/>
          </p:cNvSpPr>
          <p:nvPr>
            <p:ph type="dt" sz="half" idx="10"/>
          </p:nvPr>
        </p:nvSpPr>
        <p:spPr/>
        <p:txBody>
          <a:body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96867993-9C5E-46D4-9B9F-D2ADD2B052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F8CEBD-24B9-414A-A3DC-8C067928B1BE}"/>
              </a:ext>
            </a:extLst>
          </p:cNvPr>
          <p:cNvSpPr>
            <a:spLocks noGrp="1"/>
          </p:cNvSpPr>
          <p:nvPr>
            <p:ph type="sldNum" sz="quarter" idx="12"/>
          </p:nvPr>
        </p:nvSpPr>
        <p:spPr/>
        <p:txBody>
          <a:bodyPr/>
          <a:lstStyle/>
          <a:p>
            <a:fld id="{C6727913-365D-4F29-909B-3F2CF5DDEA2E}" type="slidenum">
              <a:rPr lang="en-IN" smtClean="0"/>
              <a:t>‹#›</a:t>
            </a:fld>
            <a:endParaRPr lang="en-IN"/>
          </a:p>
        </p:txBody>
      </p:sp>
    </p:spTree>
    <p:extLst>
      <p:ext uri="{BB962C8B-B14F-4D97-AF65-F5344CB8AC3E}">
        <p14:creationId xmlns:p14="http://schemas.microsoft.com/office/powerpoint/2010/main" val="1062373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B61627-9447-46B4-A5C1-4EBFDC4EBF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C13FDD-884F-46A8-8E1F-8BCFDAD5A7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27690F-DDF6-49E6-8C07-82CA93216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A2E9DA-7C92-42F4-B68B-B16D89C5ABAB}" type="datetimeFigureOut">
              <a:rPr lang="en-IN" smtClean="0"/>
              <a:t>05-12-2023</a:t>
            </a:fld>
            <a:endParaRPr lang="en-IN"/>
          </a:p>
        </p:txBody>
      </p:sp>
      <p:sp>
        <p:nvSpPr>
          <p:cNvPr id="5" name="Footer Placeholder 4">
            <a:extLst>
              <a:ext uri="{FF2B5EF4-FFF2-40B4-BE49-F238E27FC236}">
                <a16:creationId xmlns:a16="http://schemas.microsoft.com/office/drawing/2014/main" id="{45E072A5-0BA6-4CD6-A4AA-72577138B4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82CF9F-7713-4E73-BABD-25CFD5F8EA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727913-365D-4F29-909B-3F2CF5DDEA2E}" type="slidenum">
              <a:rPr lang="en-IN" smtClean="0"/>
              <a:t>‹#›</a:t>
            </a:fld>
            <a:endParaRPr lang="en-IN"/>
          </a:p>
        </p:txBody>
      </p:sp>
    </p:spTree>
    <p:extLst>
      <p:ext uri="{BB962C8B-B14F-4D97-AF65-F5344CB8AC3E}">
        <p14:creationId xmlns:p14="http://schemas.microsoft.com/office/powerpoint/2010/main" val="87854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javatpoint.com/mysql-tutoria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BBBA76A5-A2EA-4167-81C6-55794FEECDC0}"/>
              </a:ext>
            </a:extLst>
          </p:cNvPr>
          <p:cNvGraphicFramePr/>
          <p:nvPr>
            <p:extLst>
              <p:ext uri="{D42A27DB-BD31-4B8C-83A1-F6EECF244321}">
                <p14:modId xmlns:p14="http://schemas.microsoft.com/office/powerpoint/2010/main" val="2185500337"/>
              </p:ext>
            </p:extLst>
          </p:nvPr>
        </p:nvGraphicFramePr>
        <p:xfrm>
          <a:off x="838200" y="365125"/>
          <a:ext cx="10515600" cy="644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EA3AFBC9-240F-42CA-88DF-4D6929EB21FE}"/>
              </a:ext>
            </a:extLst>
          </p:cNvPr>
          <p:cNvSpPr>
            <a:spLocks noGrp="1"/>
          </p:cNvSpPr>
          <p:nvPr>
            <p:ph idx="1"/>
          </p:nvPr>
        </p:nvSpPr>
        <p:spPr>
          <a:xfrm>
            <a:off x="535472" y="1755884"/>
            <a:ext cx="10515600" cy="4351338"/>
          </a:xfrm>
        </p:spPr>
        <p:txBody>
          <a:bodyPr/>
          <a:lstStyle/>
          <a:p>
            <a:pPr marL="0" indent="0">
              <a:buNone/>
            </a:pPr>
            <a:r>
              <a:rPr lang="en-IN" dirty="0"/>
              <a:t> </a:t>
            </a:r>
          </a:p>
        </p:txBody>
      </p:sp>
      <p:sp>
        <p:nvSpPr>
          <p:cNvPr id="4" name="Rectangle 3">
            <a:extLst>
              <a:ext uri="{FF2B5EF4-FFF2-40B4-BE49-F238E27FC236}">
                <a16:creationId xmlns:a16="http://schemas.microsoft.com/office/drawing/2014/main" id="{A081EC3F-8F93-4DB0-A748-0D6A0DD16370}"/>
              </a:ext>
            </a:extLst>
          </p:cNvPr>
          <p:cNvSpPr/>
          <p:nvPr/>
        </p:nvSpPr>
        <p:spPr>
          <a:xfrm>
            <a:off x="5477917" y="1361351"/>
            <a:ext cx="1160060" cy="48084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ln w="0"/>
                <a:solidFill>
                  <a:schemeClr val="accent1"/>
                </a:solidFill>
                <a:effectLst>
                  <a:outerShdw blurRad="38100" dist="25400" dir="5400000" algn="ctr" rotWithShape="0">
                    <a:srgbClr val="6E747A">
                      <a:alpha val="43000"/>
                    </a:srgbClr>
                  </a:outerShdw>
                </a:effectLst>
              </a:rPr>
              <a:t>MySQL</a:t>
            </a:r>
            <a:endParaRPr lang="en-IN" dirty="0"/>
          </a:p>
        </p:txBody>
      </p:sp>
      <p:sp>
        <p:nvSpPr>
          <p:cNvPr id="5" name="Rectangle 4">
            <a:extLst>
              <a:ext uri="{FF2B5EF4-FFF2-40B4-BE49-F238E27FC236}">
                <a16:creationId xmlns:a16="http://schemas.microsoft.com/office/drawing/2014/main" id="{9D59194E-0268-4D1A-B806-478D24A5A89F}"/>
              </a:ext>
            </a:extLst>
          </p:cNvPr>
          <p:cNvSpPr/>
          <p:nvPr/>
        </p:nvSpPr>
        <p:spPr>
          <a:xfrm>
            <a:off x="1226496" y="2838258"/>
            <a:ext cx="1268633" cy="48632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chemeClr val="accent2">
                    <a:lumMod val="50000"/>
                  </a:schemeClr>
                </a:solidFill>
              </a:rPr>
              <a:t>User 1</a:t>
            </a:r>
          </a:p>
        </p:txBody>
      </p:sp>
      <p:sp>
        <p:nvSpPr>
          <p:cNvPr id="7" name="Rectangle 6">
            <a:extLst>
              <a:ext uri="{FF2B5EF4-FFF2-40B4-BE49-F238E27FC236}">
                <a16:creationId xmlns:a16="http://schemas.microsoft.com/office/drawing/2014/main" id="{28F09C06-8787-4718-BE20-E544FDA75725}"/>
              </a:ext>
            </a:extLst>
          </p:cNvPr>
          <p:cNvSpPr/>
          <p:nvPr/>
        </p:nvSpPr>
        <p:spPr>
          <a:xfrm>
            <a:off x="9614985" y="2835520"/>
            <a:ext cx="1241335" cy="48632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chemeClr val="accent2">
                    <a:lumMod val="50000"/>
                  </a:schemeClr>
                </a:solidFill>
              </a:rPr>
              <a:t>User n</a:t>
            </a:r>
          </a:p>
        </p:txBody>
      </p:sp>
      <p:sp>
        <p:nvSpPr>
          <p:cNvPr id="10" name="Rectangle 9">
            <a:extLst>
              <a:ext uri="{FF2B5EF4-FFF2-40B4-BE49-F238E27FC236}">
                <a16:creationId xmlns:a16="http://schemas.microsoft.com/office/drawing/2014/main" id="{932AD44A-6229-4C46-BECA-40C15EFEEAF3}"/>
              </a:ext>
            </a:extLst>
          </p:cNvPr>
          <p:cNvSpPr/>
          <p:nvPr/>
        </p:nvSpPr>
        <p:spPr>
          <a:xfrm>
            <a:off x="5477917" y="2840994"/>
            <a:ext cx="1160061" cy="48084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chemeClr val="accent2">
                    <a:lumMod val="50000"/>
                  </a:schemeClr>
                </a:solidFill>
              </a:rPr>
              <a:t>User 2</a:t>
            </a:r>
          </a:p>
        </p:txBody>
      </p:sp>
      <p:sp>
        <p:nvSpPr>
          <p:cNvPr id="12" name="Rectangle 11">
            <a:extLst>
              <a:ext uri="{FF2B5EF4-FFF2-40B4-BE49-F238E27FC236}">
                <a16:creationId xmlns:a16="http://schemas.microsoft.com/office/drawing/2014/main" id="{A36B1B51-B0C5-44A5-9009-F34ED8374116}"/>
              </a:ext>
            </a:extLst>
          </p:cNvPr>
          <p:cNvSpPr/>
          <p:nvPr/>
        </p:nvSpPr>
        <p:spPr>
          <a:xfrm>
            <a:off x="178869" y="3913682"/>
            <a:ext cx="1241335" cy="4863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1</a:t>
            </a:r>
          </a:p>
        </p:txBody>
      </p:sp>
      <p:sp>
        <p:nvSpPr>
          <p:cNvPr id="18" name="Rectangle 17">
            <a:extLst>
              <a:ext uri="{FF2B5EF4-FFF2-40B4-BE49-F238E27FC236}">
                <a16:creationId xmlns:a16="http://schemas.microsoft.com/office/drawing/2014/main" id="{A7436FBF-7B32-48F0-B287-BB34A6E8B20A}"/>
              </a:ext>
            </a:extLst>
          </p:cNvPr>
          <p:cNvSpPr/>
          <p:nvPr/>
        </p:nvSpPr>
        <p:spPr>
          <a:xfrm>
            <a:off x="2322643" y="3918682"/>
            <a:ext cx="1241335" cy="4863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n</a:t>
            </a:r>
          </a:p>
        </p:txBody>
      </p:sp>
      <p:sp>
        <p:nvSpPr>
          <p:cNvPr id="19" name="Rectangle 18">
            <a:extLst>
              <a:ext uri="{FF2B5EF4-FFF2-40B4-BE49-F238E27FC236}">
                <a16:creationId xmlns:a16="http://schemas.microsoft.com/office/drawing/2014/main" id="{B3CE45A3-8791-4DCA-B907-BDA2BFA6ABFB}"/>
              </a:ext>
            </a:extLst>
          </p:cNvPr>
          <p:cNvSpPr/>
          <p:nvPr/>
        </p:nvSpPr>
        <p:spPr>
          <a:xfrm>
            <a:off x="8629617" y="3918682"/>
            <a:ext cx="1241335" cy="46903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1</a:t>
            </a:r>
          </a:p>
        </p:txBody>
      </p:sp>
      <p:sp>
        <p:nvSpPr>
          <p:cNvPr id="20" name="Rectangle 19">
            <a:extLst>
              <a:ext uri="{FF2B5EF4-FFF2-40B4-BE49-F238E27FC236}">
                <a16:creationId xmlns:a16="http://schemas.microsoft.com/office/drawing/2014/main" id="{C8F51ADD-18C2-4E45-85D7-51EF4294A1C6}"/>
              </a:ext>
            </a:extLst>
          </p:cNvPr>
          <p:cNvSpPr/>
          <p:nvPr/>
        </p:nvSpPr>
        <p:spPr>
          <a:xfrm>
            <a:off x="564894" y="5370739"/>
            <a:ext cx="858362" cy="3159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21" name="Rectangle 20">
            <a:extLst>
              <a:ext uri="{FF2B5EF4-FFF2-40B4-BE49-F238E27FC236}">
                <a16:creationId xmlns:a16="http://schemas.microsoft.com/office/drawing/2014/main" id="{F323DCE4-CBA3-427A-AF31-089D534B7664}"/>
              </a:ext>
            </a:extLst>
          </p:cNvPr>
          <p:cNvSpPr/>
          <p:nvPr/>
        </p:nvSpPr>
        <p:spPr>
          <a:xfrm>
            <a:off x="10568552" y="3927323"/>
            <a:ext cx="1241335" cy="46903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n</a:t>
            </a:r>
          </a:p>
        </p:txBody>
      </p:sp>
      <p:sp>
        <p:nvSpPr>
          <p:cNvPr id="22" name="Rectangle 21">
            <a:extLst>
              <a:ext uri="{FF2B5EF4-FFF2-40B4-BE49-F238E27FC236}">
                <a16:creationId xmlns:a16="http://schemas.microsoft.com/office/drawing/2014/main" id="{FC62CD29-3640-4A26-92B3-745CC84D4C8A}"/>
              </a:ext>
            </a:extLst>
          </p:cNvPr>
          <p:cNvSpPr/>
          <p:nvPr/>
        </p:nvSpPr>
        <p:spPr>
          <a:xfrm>
            <a:off x="561840" y="4574327"/>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sp>
        <p:nvSpPr>
          <p:cNvPr id="23" name="Rectangle 22">
            <a:extLst>
              <a:ext uri="{FF2B5EF4-FFF2-40B4-BE49-F238E27FC236}">
                <a16:creationId xmlns:a16="http://schemas.microsoft.com/office/drawing/2014/main" id="{AA779336-A436-42DF-8A0A-E1A7606546DB}"/>
              </a:ext>
            </a:extLst>
          </p:cNvPr>
          <p:cNvSpPr/>
          <p:nvPr/>
        </p:nvSpPr>
        <p:spPr>
          <a:xfrm>
            <a:off x="6429757" y="3913682"/>
            <a:ext cx="1241335" cy="4863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n</a:t>
            </a:r>
          </a:p>
        </p:txBody>
      </p:sp>
      <p:sp>
        <p:nvSpPr>
          <p:cNvPr id="24" name="Rectangle 23">
            <a:extLst>
              <a:ext uri="{FF2B5EF4-FFF2-40B4-BE49-F238E27FC236}">
                <a16:creationId xmlns:a16="http://schemas.microsoft.com/office/drawing/2014/main" id="{A4D63FF2-D42B-44EB-BAE6-1C9D4358A704}"/>
              </a:ext>
            </a:extLst>
          </p:cNvPr>
          <p:cNvSpPr/>
          <p:nvPr/>
        </p:nvSpPr>
        <p:spPr>
          <a:xfrm>
            <a:off x="4424763" y="3913682"/>
            <a:ext cx="1241335" cy="48632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solidFill>
                  <a:schemeClr val="bg1"/>
                </a:solidFill>
              </a:rPr>
              <a:t>Database 1</a:t>
            </a:r>
          </a:p>
        </p:txBody>
      </p:sp>
      <p:sp>
        <p:nvSpPr>
          <p:cNvPr id="25" name="Rectangle 24">
            <a:extLst>
              <a:ext uri="{FF2B5EF4-FFF2-40B4-BE49-F238E27FC236}">
                <a16:creationId xmlns:a16="http://schemas.microsoft.com/office/drawing/2014/main" id="{AA15CB6B-5D7A-48B7-B50A-C0AB549B6D97}"/>
              </a:ext>
            </a:extLst>
          </p:cNvPr>
          <p:cNvSpPr/>
          <p:nvPr/>
        </p:nvSpPr>
        <p:spPr>
          <a:xfrm>
            <a:off x="561839" y="4972533"/>
            <a:ext cx="858363"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Table2</a:t>
            </a:r>
          </a:p>
        </p:txBody>
      </p:sp>
      <p:sp>
        <p:nvSpPr>
          <p:cNvPr id="26" name="Rectangle 25">
            <a:extLst>
              <a:ext uri="{FF2B5EF4-FFF2-40B4-BE49-F238E27FC236}">
                <a16:creationId xmlns:a16="http://schemas.microsoft.com/office/drawing/2014/main" id="{CCA2A103-A667-4F2B-86E9-7D3527E1DC6C}"/>
              </a:ext>
            </a:extLst>
          </p:cNvPr>
          <p:cNvSpPr/>
          <p:nvPr/>
        </p:nvSpPr>
        <p:spPr>
          <a:xfrm>
            <a:off x="561839" y="6351287"/>
            <a:ext cx="858363"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27" name="Rectangle 26">
            <a:extLst>
              <a:ext uri="{FF2B5EF4-FFF2-40B4-BE49-F238E27FC236}">
                <a16:creationId xmlns:a16="http://schemas.microsoft.com/office/drawing/2014/main" id="{8A80B811-3B0E-41C9-971E-AF23149F7F65}"/>
              </a:ext>
            </a:extLst>
          </p:cNvPr>
          <p:cNvSpPr/>
          <p:nvPr/>
        </p:nvSpPr>
        <p:spPr>
          <a:xfrm>
            <a:off x="6806442" y="4529741"/>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sp>
        <p:nvSpPr>
          <p:cNvPr id="28" name="Rectangle 27">
            <a:extLst>
              <a:ext uri="{FF2B5EF4-FFF2-40B4-BE49-F238E27FC236}">
                <a16:creationId xmlns:a16="http://schemas.microsoft.com/office/drawing/2014/main" id="{B041BC2B-BF06-477C-A7D6-F10ED69FF505}"/>
              </a:ext>
            </a:extLst>
          </p:cNvPr>
          <p:cNvSpPr/>
          <p:nvPr/>
        </p:nvSpPr>
        <p:spPr>
          <a:xfrm>
            <a:off x="4815745" y="6319560"/>
            <a:ext cx="858362" cy="337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29" name="Rectangle 28">
            <a:extLst>
              <a:ext uri="{FF2B5EF4-FFF2-40B4-BE49-F238E27FC236}">
                <a16:creationId xmlns:a16="http://schemas.microsoft.com/office/drawing/2014/main" id="{BBB54018-C204-4C4F-8AB9-DCBF6A64CAFD}"/>
              </a:ext>
            </a:extLst>
          </p:cNvPr>
          <p:cNvSpPr/>
          <p:nvPr/>
        </p:nvSpPr>
        <p:spPr>
          <a:xfrm>
            <a:off x="2729261" y="6351287"/>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30" name="Rectangle 29">
            <a:extLst>
              <a:ext uri="{FF2B5EF4-FFF2-40B4-BE49-F238E27FC236}">
                <a16:creationId xmlns:a16="http://schemas.microsoft.com/office/drawing/2014/main" id="{6139654F-B8CA-43A9-8F3E-21B705482AE8}"/>
              </a:ext>
            </a:extLst>
          </p:cNvPr>
          <p:cNvSpPr/>
          <p:nvPr/>
        </p:nvSpPr>
        <p:spPr>
          <a:xfrm>
            <a:off x="4824275" y="5334665"/>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31" name="Rectangle 30">
            <a:extLst>
              <a:ext uri="{FF2B5EF4-FFF2-40B4-BE49-F238E27FC236}">
                <a16:creationId xmlns:a16="http://schemas.microsoft.com/office/drawing/2014/main" id="{810C5657-F02D-4982-87C0-BF858CF169A3}"/>
              </a:ext>
            </a:extLst>
          </p:cNvPr>
          <p:cNvSpPr/>
          <p:nvPr/>
        </p:nvSpPr>
        <p:spPr>
          <a:xfrm>
            <a:off x="4802097" y="4929988"/>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2</a:t>
            </a:r>
          </a:p>
        </p:txBody>
      </p:sp>
      <p:sp>
        <p:nvSpPr>
          <p:cNvPr id="32" name="Rectangle 31">
            <a:extLst>
              <a:ext uri="{FF2B5EF4-FFF2-40B4-BE49-F238E27FC236}">
                <a16:creationId xmlns:a16="http://schemas.microsoft.com/office/drawing/2014/main" id="{24A6F1F1-9E99-46CD-A5DF-8E8108D6A8C6}"/>
              </a:ext>
            </a:extLst>
          </p:cNvPr>
          <p:cNvSpPr/>
          <p:nvPr/>
        </p:nvSpPr>
        <p:spPr>
          <a:xfrm>
            <a:off x="2730517" y="5347476"/>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33" name="Rectangle 32">
            <a:extLst>
              <a:ext uri="{FF2B5EF4-FFF2-40B4-BE49-F238E27FC236}">
                <a16:creationId xmlns:a16="http://schemas.microsoft.com/office/drawing/2014/main" id="{F80CEDE4-E4DE-413C-884B-6005E86CA3A4}"/>
              </a:ext>
            </a:extLst>
          </p:cNvPr>
          <p:cNvSpPr/>
          <p:nvPr/>
        </p:nvSpPr>
        <p:spPr>
          <a:xfrm>
            <a:off x="2716868" y="4972532"/>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2</a:t>
            </a:r>
          </a:p>
        </p:txBody>
      </p:sp>
      <p:sp>
        <p:nvSpPr>
          <p:cNvPr id="34" name="Rectangle 33">
            <a:extLst>
              <a:ext uri="{FF2B5EF4-FFF2-40B4-BE49-F238E27FC236}">
                <a16:creationId xmlns:a16="http://schemas.microsoft.com/office/drawing/2014/main" id="{2153C740-805E-4220-99D9-BB998819621E}"/>
              </a:ext>
            </a:extLst>
          </p:cNvPr>
          <p:cNvSpPr/>
          <p:nvPr/>
        </p:nvSpPr>
        <p:spPr>
          <a:xfrm>
            <a:off x="4810627" y="4525311"/>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sp>
        <p:nvSpPr>
          <p:cNvPr id="35" name="Rectangle 34">
            <a:extLst>
              <a:ext uri="{FF2B5EF4-FFF2-40B4-BE49-F238E27FC236}">
                <a16:creationId xmlns:a16="http://schemas.microsoft.com/office/drawing/2014/main" id="{22E03A4D-CF36-4195-9D7C-6CBE52293D1F}"/>
              </a:ext>
            </a:extLst>
          </p:cNvPr>
          <p:cNvSpPr/>
          <p:nvPr/>
        </p:nvSpPr>
        <p:spPr>
          <a:xfrm>
            <a:off x="2703223" y="4560732"/>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sp>
        <p:nvSpPr>
          <p:cNvPr id="36" name="Rectangle 35">
            <a:extLst>
              <a:ext uri="{FF2B5EF4-FFF2-40B4-BE49-F238E27FC236}">
                <a16:creationId xmlns:a16="http://schemas.microsoft.com/office/drawing/2014/main" id="{3441DFA1-9EF0-4EE6-93D9-FEADA885289F}"/>
              </a:ext>
            </a:extLst>
          </p:cNvPr>
          <p:cNvSpPr/>
          <p:nvPr/>
        </p:nvSpPr>
        <p:spPr>
          <a:xfrm>
            <a:off x="8997726" y="6318204"/>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37" name="Rectangle 36">
            <a:extLst>
              <a:ext uri="{FF2B5EF4-FFF2-40B4-BE49-F238E27FC236}">
                <a16:creationId xmlns:a16="http://schemas.microsoft.com/office/drawing/2014/main" id="{C71255DE-23DD-4916-96DD-22C00E92BD11}"/>
              </a:ext>
            </a:extLst>
          </p:cNvPr>
          <p:cNvSpPr/>
          <p:nvPr/>
        </p:nvSpPr>
        <p:spPr>
          <a:xfrm>
            <a:off x="9011374" y="5294379"/>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38" name="Rectangle 37">
            <a:extLst>
              <a:ext uri="{FF2B5EF4-FFF2-40B4-BE49-F238E27FC236}">
                <a16:creationId xmlns:a16="http://schemas.microsoft.com/office/drawing/2014/main" id="{F5C45379-CE23-48EC-ADF2-00AC1B2A21DB}"/>
              </a:ext>
            </a:extLst>
          </p:cNvPr>
          <p:cNvSpPr/>
          <p:nvPr/>
        </p:nvSpPr>
        <p:spPr>
          <a:xfrm>
            <a:off x="9009692" y="4896486"/>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2</a:t>
            </a:r>
          </a:p>
        </p:txBody>
      </p:sp>
      <p:sp>
        <p:nvSpPr>
          <p:cNvPr id="39" name="Rectangle 38">
            <a:extLst>
              <a:ext uri="{FF2B5EF4-FFF2-40B4-BE49-F238E27FC236}">
                <a16:creationId xmlns:a16="http://schemas.microsoft.com/office/drawing/2014/main" id="{2EFDC3E1-9BC2-45DF-AC8F-7CD396196D8D}"/>
              </a:ext>
            </a:extLst>
          </p:cNvPr>
          <p:cNvSpPr/>
          <p:nvPr/>
        </p:nvSpPr>
        <p:spPr>
          <a:xfrm>
            <a:off x="9012590" y="4505983"/>
            <a:ext cx="858362" cy="3159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sp>
        <p:nvSpPr>
          <p:cNvPr id="40" name="Rectangle 39">
            <a:extLst>
              <a:ext uri="{FF2B5EF4-FFF2-40B4-BE49-F238E27FC236}">
                <a16:creationId xmlns:a16="http://schemas.microsoft.com/office/drawing/2014/main" id="{6F2ABEA1-AD82-4795-A222-2AD4691F9435}"/>
              </a:ext>
            </a:extLst>
          </p:cNvPr>
          <p:cNvSpPr/>
          <p:nvPr/>
        </p:nvSpPr>
        <p:spPr>
          <a:xfrm>
            <a:off x="6807818" y="6313444"/>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41" name="Rectangle 40">
            <a:extLst>
              <a:ext uri="{FF2B5EF4-FFF2-40B4-BE49-F238E27FC236}">
                <a16:creationId xmlns:a16="http://schemas.microsoft.com/office/drawing/2014/main" id="{9CD3A25D-1BB1-47C5-A5CE-95F76983F63D}"/>
              </a:ext>
            </a:extLst>
          </p:cNvPr>
          <p:cNvSpPr/>
          <p:nvPr/>
        </p:nvSpPr>
        <p:spPr>
          <a:xfrm>
            <a:off x="6806890" y="5335199"/>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42" name="Rectangle 41">
            <a:extLst>
              <a:ext uri="{FF2B5EF4-FFF2-40B4-BE49-F238E27FC236}">
                <a16:creationId xmlns:a16="http://schemas.microsoft.com/office/drawing/2014/main" id="{800FA582-F67D-40EE-9BC3-E2EF0098D9BF}"/>
              </a:ext>
            </a:extLst>
          </p:cNvPr>
          <p:cNvSpPr/>
          <p:nvPr/>
        </p:nvSpPr>
        <p:spPr>
          <a:xfrm>
            <a:off x="6806442" y="4921313"/>
            <a:ext cx="858362" cy="33827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2</a:t>
            </a:r>
          </a:p>
        </p:txBody>
      </p:sp>
      <p:sp>
        <p:nvSpPr>
          <p:cNvPr id="46" name="Rectangle 45">
            <a:extLst>
              <a:ext uri="{FF2B5EF4-FFF2-40B4-BE49-F238E27FC236}">
                <a16:creationId xmlns:a16="http://schemas.microsoft.com/office/drawing/2014/main" id="{9F4559B0-21F8-4F06-A054-A7B7FFC2E3B9}"/>
              </a:ext>
            </a:extLst>
          </p:cNvPr>
          <p:cNvSpPr/>
          <p:nvPr/>
        </p:nvSpPr>
        <p:spPr>
          <a:xfrm>
            <a:off x="10951525" y="6323170"/>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n</a:t>
            </a:r>
          </a:p>
        </p:txBody>
      </p:sp>
      <p:sp>
        <p:nvSpPr>
          <p:cNvPr id="47" name="Rectangle 46">
            <a:extLst>
              <a:ext uri="{FF2B5EF4-FFF2-40B4-BE49-F238E27FC236}">
                <a16:creationId xmlns:a16="http://schemas.microsoft.com/office/drawing/2014/main" id="{F5734ACE-B47D-4C74-8ADE-428185A12510}"/>
              </a:ext>
            </a:extLst>
          </p:cNvPr>
          <p:cNvSpPr/>
          <p:nvPr/>
        </p:nvSpPr>
        <p:spPr>
          <a:xfrm>
            <a:off x="10956099" y="5294378"/>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3</a:t>
            </a:r>
          </a:p>
        </p:txBody>
      </p:sp>
      <p:sp>
        <p:nvSpPr>
          <p:cNvPr id="48" name="Rectangle 47">
            <a:extLst>
              <a:ext uri="{FF2B5EF4-FFF2-40B4-BE49-F238E27FC236}">
                <a16:creationId xmlns:a16="http://schemas.microsoft.com/office/drawing/2014/main" id="{A7611741-2362-45A2-BB0E-0AFAAA912D70}"/>
              </a:ext>
            </a:extLst>
          </p:cNvPr>
          <p:cNvSpPr/>
          <p:nvPr/>
        </p:nvSpPr>
        <p:spPr>
          <a:xfrm>
            <a:off x="10951525" y="4900258"/>
            <a:ext cx="858362" cy="31594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2</a:t>
            </a:r>
          </a:p>
        </p:txBody>
      </p:sp>
      <p:sp>
        <p:nvSpPr>
          <p:cNvPr id="49" name="Rectangle 48">
            <a:extLst>
              <a:ext uri="{FF2B5EF4-FFF2-40B4-BE49-F238E27FC236}">
                <a16:creationId xmlns:a16="http://schemas.microsoft.com/office/drawing/2014/main" id="{9983D546-4642-4E33-92D3-D620893D5FE6}"/>
              </a:ext>
            </a:extLst>
          </p:cNvPr>
          <p:cNvSpPr/>
          <p:nvPr/>
        </p:nvSpPr>
        <p:spPr>
          <a:xfrm>
            <a:off x="10951525" y="4509792"/>
            <a:ext cx="858362" cy="32243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rPr>
              <a:t>Table 1</a:t>
            </a:r>
          </a:p>
        </p:txBody>
      </p:sp>
      <p:cxnSp>
        <p:nvCxnSpPr>
          <p:cNvPr id="55" name="Straight Arrow Connector 54">
            <a:extLst>
              <a:ext uri="{FF2B5EF4-FFF2-40B4-BE49-F238E27FC236}">
                <a16:creationId xmlns:a16="http://schemas.microsoft.com/office/drawing/2014/main" id="{3534F928-0BCB-4750-BC11-ADABD5F3323C}"/>
              </a:ext>
            </a:extLst>
          </p:cNvPr>
          <p:cNvCxnSpPr>
            <a:cxnSpLocks/>
            <a:stCxn id="4" idx="2"/>
            <a:endCxn id="10" idx="0"/>
          </p:cNvCxnSpPr>
          <p:nvPr/>
        </p:nvCxnSpPr>
        <p:spPr>
          <a:xfrm>
            <a:off x="6057947" y="1842198"/>
            <a:ext cx="1" cy="9987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F23BDCA3-0253-4386-B77A-50621B226228}"/>
              </a:ext>
            </a:extLst>
          </p:cNvPr>
          <p:cNvCxnSpPr>
            <a:stCxn id="4" idx="2"/>
            <a:endCxn id="5" idx="0"/>
          </p:cNvCxnSpPr>
          <p:nvPr/>
        </p:nvCxnSpPr>
        <p:spPr>
          <a:xfrm flipH="1">
            <a:off x="1860813" y="1842198"/>
            <a:ext cx="4197134" cy="9960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Straight Arrow Connector 59">
            <a:extLst>
              <a:ext uri="{FF2B5EF4-FFF2-40B4-BE49-F238E27FC236}">
                <a16:creationId xmlns:a16="http://schemas.microsoft.com/office/drawing/2014/main" id="{1FD1E3DB-C0A5-4C65-A72A-C2D36649CC5E}"/>
              </a:ext>
            </a:extLst>
          </p:cNvPr>
          <p:cNvCxnSpPr>
            <a:stCxn id="4" idx="2"/>
          </p:cNvCxnSpPr>
          <p:nvPr/>
        </p:nvCxnSpPr>
        <p:spPr>
          <a:xfrm>
            <a:off x="6057947" y="1842198"/>
            <a:ext cx="4177705" cy="9933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D6B3678F-76B6-42E2-9899-75FD2E95CD00}"/>
              </a:ext>
            </a:extLst>
          </p:cNvPr>
          <p:cNvCxnSpPr>
            <a:stCxn id="5" idx="2"/>
            <a:endCxn id="12" idx="0"/>
          </p:cNvCxnSpPr>
          <p:nvPr/>
        </p:nvCxnSpPr>
        <p:spPr>
          <a:xfrm flipH="1">
            <a:off x="799537" y="3324579"/>
            <a:ext cx="1061276" cy="5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a:extLst>
              <a:ext uri="{FF2B5EF4-FFF2-40B4-BE49-F238E27FC236}">
                <a16:creationId xmlns:a16="http://schemas.microsoft.com/office/drawing/2014/main" id="{65D899C8-21FA-45E1-A2BB-DBA1F80F71C9}"/>
              </a:ext>
            </a:extLst>
          </p:cNvPr>
          <p:cNvCxnSpPr>
            <a:stCxn id="5" idx="2"/>
          </p:cNvCxnSpPr>
          <p:nvPr/>
        </p:nvCxnSpPr>
        <p:spPr>
          <a:xfrm>
            <a:off x="1860813" y="3324579"/>
            <a:ext cx="1082497" cy="5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Straight Arrow Connector 65">
            <a:extLst>
              <a:ext uri="{FF2B5EF4-FFF2-40B4-BE49-F238E27FC236}">
                <a16:creationId xmlns:a16="http://schemas.microsoft.com/office/drawing/2014/main" id="{C0F25419-D688-432A-A0C3-411CBFABB8C0}"/>
              </a:ext>
            </a:extLst>
          </p:cNvPr>
          <p:cNvCxnSpPr>
            <a:cxnSpLocks/>
            <a:stCxn id="10" idx="2"/>
            <a:endCxn id="23" idx="0"/>
          </p:cNvCxnSpPr>
          <p:nvPr/>
        </p:nvCxnSpPr>
        <p:spPr>
          <a:xfrm>
            <a:off x="6057948" y="3321841"/>
            <a:ext cx="992477" cy="591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9" name="Straight Arrow Connector 68">
            <a:extLst>
              <a:ext uri="{FF2B5EF4-FFF2-40B4-BE49-F238E27FC236}">
                <a16:creationId xmlns:a16="http://schemas.microsoft.com/office/drawing/2014/main" id="{D2A5E6C7-4644-4F16-9A18-C9882B597828}"/>
              </a:ext>
            </a:extLst>
          </p:cNvPr>
          <p:cNvCxnSpPr>
            <a:stCxn id="10" idx="2"/>
            <a:endCxn id="24" idx="0"/>
          </p:cNvCxnSpPr>
          <p:nvPr/>
        </p:nvCxnSpPr>
        <p:spPr>
          <a:xfrm flipH="1">
            <a:off x="5045431" y="3321841"/>
            <a:ext cx="1012517" cy="591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1" name="Straight Arrow Connector 70">
            <a:extLst>
              <a:ext uri="{FF2B5EF4-FFF2-40B4-BE49-F238E27FC236}">
                <a16:creationId xmlns:a16="http://schemas.microsoft.com/office/drawing/2014/main" id="{EFD71C98-7F9D-4883-B108-9F25C82710A4}"/>
              </a:ext>
            </a:extLst>
          </p:cNvPr>
          <p:cNvCxnSpPr>
            <a:stCxn id="7" idx="2"/>
            <a:endCxn id="19" idx="0"/>
          </p:cNvCxnSpPr>
          <p:nvPr/>
        </p:nvCxnSpPr>
        <p:spPr>
          <a:xfrm flipH="1">
            <a:off x="9250285" y="3321841"/>
            <a:ext cx="985368" cy="596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a:extLst>
              <a:ext uri="{FF2B5EF4-FFF2-40B4-BE49-F238E27FC236}">
                <a16:creationId xmlns:a16="http://schemas.microsoft.com/office/drawing/2014/main" id="{0EE59ACF-FFEB-4D49-BB55-99C591199445}"/>
              </a:ext>
            </a:extLst>
          </p:cNvPr>
          <p:cNvCxnSpPr>
            <a:stCxn id="7" idx="2"/>
            <a:endCxn id="21" idx="0"/>
          </p:cNvCxnSpPr>
          <p:nvPr/>
        </p:nvCxnSpPr>
        <p:spPr>
          <a:xfrm>
            <a:off x="10235653" y="3321841"/>
            <a:ext cx="953567" cy="6054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Connector 74">
            <a:extLst>
              <a:ext uri="{FF2B5EF4-FFF2-40B4-BE49-F238E27FC236}">
                <a16:creationId xmlns:a16="http://schemas.microsoft.com/office/drawing/2014/main" id="{4F345365-1377-42AD-A3E5-61AC448D7A2C}"/>
              </a:ext>
            </a:extLst>
          </p:cNvPr>
          <p:cNvCxnSpPr>
            <a:cxnSpLocks/>
          </p:cNvCxnSpPr>
          <p:nvPr/>
        </p:nvCxnSpPr>
        <p:spPr>
          <a:xfrm>
            <a:off x="247109" y="4403950"/>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78" name="Straight Arrow Connector 77">
            <a:extLst>
              <a:ext uri="{FF2B5EF4-FFF2-40B4-BE49-F238E27FC236}">
                <a16:creationId xmlns:a16="http://schemas.microsoft.com/office/drawing/2014/main" id="{7FCE6DBC-1343-4AB1-AAEF-53A08F137F09}"/>
              </a:ext>
            </a:extLst>
          </p:cNvPr>
          <p:cNvCxnSpPr>
            <a:cxnSpLocks/>
          </p:cNvCxnSpPr>
          <p:nvPr/>
        </p:nvCxnSpPr>
        <p:spPr>
          <a:xfrm flipV="1">
            <a:off x="247109" y="4732301"/>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0" name="Straight Arrow Connector 79">
            <a:extLst>
              <a:ext uri="{FF2B5EF4-FFF2-40B4-BE49-F238E27FC236}">
                <a16:creationId xmlns:a16="http://schemas.microsoft.com/office/drawing/2014/main" id="{EDF33B57-E755-4F4C-A253-0F5EA339D323}"/>
              </a:ext>
            </a:extLst>
          </p:cNvPr>
          <p:cNvCxnSpPr>
            <a:cxnSpLocks/>
          </p:cNvCxnSpPr>
          <p:nvPr/>
        </p:nvCxnSpPr>
        <p:spPr>
          <a:xfrm flipV="1">
            <a:off x="249381" y="5103069"/>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1" name="Straight Arrow Connector 80">
            <a:extLst>
              <a:ext uri="{FF2B5EF4-FFF2-40B4-BE49-F238E27FC236}">
                <a16:creationId xmlns:a16="http://schemas.microsoft.com/office/drawing/2014/main" id="{8AFDACD4-E628-46A0-A64D-3FB71F46BAFB}"/>
              </a:ext>
            </a:extLst>
          </p:cNvPr>
          <p:cNvCxnSpPr>
            <a:cxnSpLocks/>
          </p:cNvCxnSpPr>
          <p:nvPr/>
        </p:nvCxnSpPr>
        <p:spPr>
          <a:xfrm flipV="1">
            <a:off x="249381" y="5526149"/>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2" name="Straight Arrow Connector 81">
            <a:extLst>
              <a:ext uri="{FF2B5EF4-FFF2-40B4-BE49-F238E27FC236}">
                <a16:creationId xmlns:a16="http://schemas.microsoft.com/office/drawing/2014/main" id="{97299703-B91B-4FE1-BF3F-74C3B6DEBA3F}"/>
              </a:ext>
            </a:extLst>
          </p:cNvPr>
          <p:cNvCxnSpPr>
            <a:cxnSpLocks/>
          </p:cNvCxnSpPr>
          <p:nvPr/>
        </p:nvCxnSpPr>
        <p:spPr>
          <a:xfrm flipV="1">
            <a:off x="249390" y="6513691"/>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3" name="Straight Connector 82">
            <a:extLst>
              <a:ext uri="{FF2B5EF4-FFF2-40B4-BE49-F238E27FC236}">
                <a16:creationId xmlns:a16="http://schemas.microsoft.com/office/drawing/2014/main" id="{4746D606-F0FA-49C0-BE5F-987013431EDD}"/>
              </a:ext>
            </a:extLst>
          </p:cNvPr>
          <p:cNvCxnSpPr>
            <a:cxnSpLocks/>
          </p:cNvCxnSpPr>
          <p:nvPr/>
        </p:nvCxnSpPr>
        <p:spPr>
          <a:xfrm>
            <a:off x="2374765" y="4403950"/>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24A3FBC0-D39D-49E5-B44C-CCA35D73AEC8}"/>
              </a:ext>
            </a:extLst>
          </p:cNvPr>
          <p:cNvCxnSpPr>
            <a:cxnSpLocks/>
          </p:cNvCxnSpPr>
          <p:nvPr/>
        </p:nvCxnSpPr>
        <p:spPr>
          <a:xfrm>
            <a:off x="4493837" y="4407322"/>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85" name="Straight Connector 84">
            <a:extLst>
              <a:ext uri="{FF2B5EF4-FFF2-40B4-BE49-F238E27FC236}">
                <a16:creationId xmlns:a16="http://schemas.microsoft.com/office/drawing/2014/main" id="{9D036B2F-E9B8-4CF8-8403-A71EAF49A89A}"/>
              </a:ext>
            </a:extLst>
          </p:cNvPr>
          <p:cNvCxnSpPr>
            <a:cxnSpLocks/>
          </p:cNvCxnSpPr>
          <p:nvPr/>
        </p:nvCxnSpPr>
        <p:spPr>
          <a:xfrm>
            <a:off x="6513242" y="4407321"/>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86" name="Straight Connector 85">
            <a:extLst>
              <a:ext uri="{FF2B5EF4-FFF2-40B4-BE49-F238E27FC236}">
                <a16:creationId xmlns:a16="http://schemas.microsoft.com/office/drawing/2014/main" id="{F39288CB-2594-44D4-8A3D-03716440CF43}"/>
              </a:ext>
            </a:extLst>
          </p:cNvPr>
          <p:cNvCxnSpPr>
            <a:cxnSpLocks/>
          </p:cNvCxnSpPr>
          <p:nvPr/>
        </p:nvCxnSpPr>
        <p:spPr>
          <a:xfrm>
            <a:off x="8710994" y="4375833"/>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87" name="Straight Connector 86">
            <a:extLst>
              <a:ext uri="{FF2B5EF4-FFF2-40B4-BE49-F238E27FC236}">
                <a16:creationId xmlns:a16="http://schemas.microsoft.com/office/drawing/2014/main" id="{9BA1994B-2381-43C8-A8D0-9E9F5AC29426}"/>
              </a:ext>
            </a:extLst>
          </p:cNvPr>
          <p:cNvCxnSpPr>
            <a:cxnSpLocks/>
          </p:cNvCxnSpPr>
          <p:nvPr/>
        </p:nvCxnSpPr>
        <p:spPr>
          <a:xfrm>
            <a:off x="10630548" y="4393672"/>
            <a:ext cx="0" cy="2105311"/>
          </a:xfrm>
          <a:prstGeom prst="line">
            <a:avLst/>
          </a:prstGeom>
        </p:spPr>
        <p:style>
          <a:lnRef idx="3">
            <a:schemeClr val="dk1"/>
          </a:lnRef>
          <a:fillRef idx="0">
            <a:schemeClr val="dk1"/>
          </a:fillRef>
          <a:effectRef idx="2">
            <a:schemeClr val="dk1"/>
          </a:effectRef>
          <a:fontRef idx="minor">
            <a:schemeClr val="tx1"/>
          </a:fontRef>
        </p:style>
      </p:cxnSp>
      <p:cxnSp>
        <p:nvCxnSpPr>
          <p:cNvPr id="88" name="Straight Arrow Connector 87">
            <a:extLst>
              <a:ext uri="{FF2B5EF4-FFF2-40B4-BE49-F238E27FC236}">
                <a16:creationId xmlns:a16="http://schemas.microsoft.com/office/drawing/2014/main" id="{81F9745E-2F72-4DCA-9A3F-D9BC427BB545}"/>
              </a:ext>
            </a:extLst>
          </p:cNvPr>
          <p:cNvCxnSpPr>
            <a:cxnSpLocks/>
          </p:cNvCxnSpPr>
          <p:nvPr/>
        </p:nvCxnSpPr>
        <p:spPr>
          <a:xfrm flipV="1">
            <a:off x="2378243" y="4715011"/>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9" name="Straight Arrow Connector 88">
            <a:extLst>
              <a:ext uri="{FF2B5EF4-FFF2-40B4-BE49-F238E27FC236}">
                <a16:creationId xmlns:a16="http://schemas.microsoft.com/office/drawing/2014/main" id="{EA6F4803-C3A4-474E-B5D4-C837138D0256}"/>
              </a:ext>
            </a:extLst>
          </p:cNvPr>
          <p:cNvCxnSpPr>
            <a:cxnSpLocks/>
          </p:cNvCxnSpPr>
          <p:nvPr/>
        </p:nvCxnSpPr>
        <p:spPr>
          <a:xfrm flipV="1">
            <a:off x="2378894" y="5104995"/>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0" name="Straight Arrow Connector 89">
            <a:extLst>
              <a:ext uri="{FF2B5EF4-FFF2-40B4-BE49-F238E27FC236}">
                <a16:creationId xmlns:a16="http://schemas.microsoft.com/office/drawing/2014/main" id="{2A44015B-2CB5-450E-BA0E-F597068F4F84}"/>
              </a:ext>
            </a:extLst>
          </p:cNvPr>
          <p:cNvCxnSpPr>
            <a:cxnSpLocks/>
          </p:cNvCxnSpPr>
          <p:nvPr/>
        </p:nvCxnSpPr>
        <p:spPr>
          <a:xfrm flipV="1">
            <a:off x="2379504" y="5498852"/>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1" name="Straight Arrow Connector 90">
            <a:extLst>
              <a:ext uri="{FF2B5EF4-FFF2-40B4-BE49-F238E27FC236}">
                <a16:creationId xmlns:a16="http://schemas.microsoft.com/office/drawing/2014/main" id="{F0C7FA86-0AA8-4F11-9040-3C6F6B08CA4A}"/>
              </a:ext>
            </a:extLst>
          </p:cNvPr>
          <p:cNvCxnSpPr>
            <a:cxnSpLocks/>
          </p:cNvCxnSpPr>
          <p:nvPr/>
        </p:nvCxnSpPr>
        <p:spPr>
          <a:xfrm flipV="1">
            <a:off x="2376856" y="6510323"/>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2" name="Straight Arrow Connector 91">
            <a:extLst>
              <a:ext uri="{FF2B5EF4-FFF2-40B4-BE49-F238E27FC236}">
                <a16:creationId xmlns:a16="http://schemas.microsoft.com/office/drawing/2014/main" id="{6FB0C4F7-A62D-4EE7-B9D0-192D66B2059D}"/>
              </a:ext>
            </a:extLst>
          </p:cNvPr>
          <p:cNvCxnSpPr>
            <a:cxnSpLocks/>
          </p:cNvCxnSpPr>
          <p:nvPr/>
        </p:nvCxnSpPr>
        <p:spPr>
          <a:xfrm flipV="1">
            <a:off x="4493840" y="4677605"/>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3" name="Straight Arrow Connector 92">
            <a:extLst>
              <a:ext uri="{FF2B5EF4-FFF2-40B4-BE49-F238E27FC236}">
                <a16:creationId xmlns:a16="http://schemas.microsoft.com/office/drawing/2014/main" id="{0CE96952-5529-46A8-8384-3E80E67007CB}"/>
              </a:ext>
            </a:extLst>
          </p:cNvPr>
          <p:cNvCxnSpPr>
            <a:cxnSpLocks/>
          </p:cNvCxnSpPr>
          <p:nvPr/>
        </p:nvCxnSpPr>
        <p:spPr>
          <a:xfrm flipV="1">
            <a:off x="4494968" y="5075751"/>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4" name="Straight Arrow Connector 93">
            <a:extLst>
              <a:ext uri="{FF2B5EF4-FFF2-40B4-BE49-F238E27FC236}">
                <a16:creationId xmlns:a16="http://schemas.microsoft.com/office/drawing/2014/main" id="{579F98ED-92CD-4C21-901A-AD0422EB5606}"/>
              </a:ext>
            </a:extLst>
          </p:cNvPr>
          <p:cNvCxnSpPr>
            <a:cxnSpLocks/>
          </p:cNvCxnSpPr>
          <p:nvPr/>
        </p:nvCxnSpPr>
        <p:spPr>
          <a:xfrm flipV="1">
            <a:off x="4494634" y="5485203"/>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5" name="Straight Arrow Connector 94">
            <a:extLst>
              <a:ext uri="{FF2B5EF4-FFF2-40B4-BE49-F238E27FC236}">
                <a16:creationId xmlns:a16="http://schemas.microsoft.com/office/drawing/2014/main" id="{E4850491-C97F-422C-B708-4A26A3EE98A4}"/>
              </a:ext>
            </a:extLst>
          </p:cNvPr>
          <p:cNvCxnSpPr>
            <a:cxnSpLocks/>
          </p:cNvCxnSpPr>
          <p:nvPr/>
        </p:nvCxnSpPr>
        <p:spPr>
          <a:xfrm flipV="1">
            <a:off x="4493122" y="6509260"/>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6" name="Straight Arrow Connector 95">
            <a:extLst>
              <a:ext uri="{FF2B5EF4-FFF2-40B4-BE49-F238E27FC236}">
                <a16:creationId xmlns:a16="http://schemas.microsoft.com/office/drawing/2014/main" id="{14BE1C68-2747-4A4B-915C-9C5CD2884E3D}"/>
              </a:ext>
            </a:extLst>
          </p:cNvPr>
          <p:cNvCxnSpPr>
            <a:cxnSpLocks/>
          </p:cNvCxnSpPr>
          <p:nvPr/>
        </p:nvCxnSpPr>
        <p:spPr>
          <a:xfrm flipV="1">
            <a:off x="6512401" y="4682199"/>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7" name="Straight Arrow Connector 96">
            <a:extLst>
              <a:ext uri="{FF2B5EF4-FFF2-40B4-BE49-F238E27FC236}">
                <a16:creationId xmlns:a16="http://schemas.microsoft.com/office/drawing/2014/main" id="{07A5BAB9-E799-424F-B3D6-D48B947C5A44}"/>
              </a:ext>
            </a:extLst>
          </p:cNvPr>
          <p:cNvCxnSpPr>
            <a:cxnSpLocks/>
          </p:cNvCxnSpPr>
          <p:nvPr/>
        </p:nvCxnSpPr>
        <p:spPr>
          <a:xfrm flipV="1">
            <a:off x="6514310" y="5075658"/>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8" name="Straight Arrow Connector 97">
            <a:extLst>
              <a:ext uri="{FF2B5EF4-FFF2-40B4-BE49-F238E27FC236}">
                <a16:creationId xmlns:a16="http://schemas.microsoft.com/office/drawing/2014/main" id="{4C5A5A95-7F40-485D-8981-70741862B0AC}"/>
              </a:ext>
            </a:extLst>
          </p:cNvPr>
          <p:cNvCxnSpPr>
            <a:cxnSpLocks/>
          </p:cNvCxnSpPr>
          <p:nvPr/>
        </p:nvCxnSpPr>
        <p:spPr>
          <a:xfrm flipV="1">
            <a:off x="6503731" y="5469008"/>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9" name="Straight Arrow Connector 98">
            <a:extLst>
              <a:ext uri="{FF2B5EF4-FFF2-40B4-BE49-F238E27FC236}">
                <a16:creationId xmlns:a16="http://schemas.microsoft.com/office/drawing/2014/main" id="{AD68BCFD-A4CB-47D9-B6E0-B319FCD364E6}"/>
              </a:ext>
            </a:extLst>
          </p:cNvPr>
          <p:cNvCxnSpPr>
            <a:cxnSpLocks/>
          </p:cNvCxnSpPr>
          <p:nvPr/>
        </p:nvCxnSpPr>
        <p:spPr>
          <a:xfrm flipV="1">
            <a:off x="6503730" y="6506590"/>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0" name="Straight Arrow Connector 99">
            <a:extLst>
              <a:ext uri="{FF2B5EF4-FFF2-40B4-BE49-F238E27FC236}">
                <a16:creationId xmlns:a16="http://schemas.microsoft.com/office/drawing/2014/main" id="{AC3EB52E-66B2-4023-811F-7DE64DC81403}"/>
              </a:ext>
            </a:extLst>
          </p:cNvPr>
          <p:cNvCxnSpPr>
            <a:cxnSpLocks/>
          </p:cNvCxnSpPr>
          <p:nvPr/>
        </p:nvCxnSpPr>
        <p:spPr>
          <a:xfrm flipV="1">
            <a:off x="8709431" y="4655936"/>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1" name="Straight Arrow Connector 100">
            <a:extLst>
              <a:ext uri="{FF2B5EF4-FFF2-40B4-BE49-F238E27FC236}">
                <a16:creationId xmlns:a16="http://schemas.microsoft.com/office/drawing/2014/main" id="{B0C65032-2328-444B-8396-47C26C22CBF7}"/>
              </a:ext>
            </a:extLst>
          </p:cNvPr>
          <p:cNvCxnSpPr>
            <a:cxnSpLocks/>
          </p:cNvCxnSpPr>
          <p:nvPr/>
        </p:nvCxnSpPr>
        <p:spPr>
          <a:xfrm flipV="1">
            <a:off x="8703930" y="5048455"/>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2" name="Straight Arrow Connector 101">
            <a:extLst>
              <a:ext uri="{FF2B5EF4-FFF2-40B4-BE49-F238E27FC236}">
                <a16:creationId xmlns:a16="http://schemas.microsoft.com/office/drawing/2014/main" id="{DC42F6DD-BDC2-44C7-9165-7A951ABA64F3}"/>
              </a:ext>
            </a:extLst>
          </p:cNvPr>
          <p:cNvCxnSpPr>
            <a:cxnSpLocks/>
          </p:cNvCxnSpPr>
          <p:nvPr/>
        </p:nvCxnSpPr>
        <p:spPr>
          <a:xfrm flipV="1">
            <a:off x="8710994" y="5444214"/>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3" name="Straight Arrow Connector 102">
            <a:extLst>
              <a:ext uri="{FF2B5EF4-FFF2-40B4-BE49-F238E27FC236}">
                <a16:creationId xmlns:a16="http://schemas.microsoft.com/office/drawing/2014/main" id="{8C96ADC3-64DE-4102-8CC6-01FC0BECAFA9}"/>
              </a:ext>
            </a:extLst>
          </p:cNvPr>
          <p:cNvCxnSpPr>
            <a:cxnSpLocks/>
          </p:cNvCxnSpPr>
          <p:nvPr/>
        </p:nvCxnSpPr>
        <p:spPr>
          <a:xfrm flipV="1">
            <a:off x="8713653" y="6476150"/>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4" name="Straight Arrow Connector 103">
            <a:extLst>
              <a:ext uri="{FF2B5EF4-FFF2-40B4-BE49-F238E27FC236}">
                <a16:creationId xmlns:a16="http://schemas.microsoft.com/office/drawing/2014/main" id="{E4AF1A0E-AC39-4CFB-B563-93EDE40D53D2}"/>
              </a:ext>
            </a:extLst>
          </p:cNvPr>
          <p:cNvCxnSpPr>
            <a:cxnSpLocks/>
          </p:cNvCxnSpPr>
          <p:nvPr/>
        </p:nvCxnSpPr>
        <p:spPr>
          <a:xfrm flipV="1">
            <a:off x="10625917" y="4656122"/>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5" name="Straight Arrow Connector 104">
            <a:extLst>
              <a:ext uri="{FF2B5EF4-FFF2-40B4-BE49-F238E27FC236}">
                <a16:creationId xmlns:a16="http://schemas.microsoft.com/office/drawing/2014/main" id="{450CF28F-D831-43A0-A1C2-975E589480FC}"/>
              </a:ext>
            </a:extLst>
          </p:cNvPr>
          <p:cNvCxnSpPr>
            <a:cxnSpLocks/>
          </p:cNvCxnSpPr>
          <p:nvPr/>
        </p:nvCxnSpPr>
        <p:spPr>
          <a:xfrm flipV="1">
            <a:off x="10630863" y="5058232"/>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6" name="Straight Arrow Connector 105">
            <a:extLst>
              <a:ext uri="{FF2B5EF4-FFF2-40B4-BE49-F238E27FC236}">
                <a16:creationId xmlns:a16="http://schemas.microsoft.com/office/drawing/2014/main" id="{5D553424-B5F2-40D9-A359-B63E4E6D8014}"/>
              </a:ext>
            </a:extLst>
          </p:cNvPr>
          <p:cNvCxnSpPr>
            <a:cxnSpLocks/>
          </p:cNvCxnSpPr>
          <p:nvPr/>
        </p:nvCxnSpPr>
        <p:spPr>
          <a:xfrm flipV="1">
            <a:off x="10633207" y="5446326"/>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7" name="Straight Arrow Connector 106">
            <a:extLst>
              <a:ext uri="{FF2B5EF4-FFF2-40B4-BE49-F238E27FC236}">
                <a16:creationId xmlns:a16="http://schemas.microsoft.com/office/drawing/2014/main" id="{8925E61B-2393-4525-A433-AC85B33A67AC}"/>
              </a:ext>
            </a:extLst>
          </p:cNvPr>
          <p:cNvCxnSpPr>
            <a:cxnSpLocks/>
          </p:cNvCxnSpPr>
          <p:nvPr/>
        </p:nvCxnSpPr>
        <p:spPr>
          <a:xfrm flipV="1">
            <a:off x="10635866" y="6501177"/>
            <a:ext cx="28836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9" name="Straight Connector 108">
            <a:extLst>
              <a:ext uri="{FF2B5EF4-FFF2-40B4-BE49-F238E27FC236}">
                <a16:creationId xmlns:a16="http://schemas.microsoft.com/office/drawing/2014/main" id="{52DAB2DE-9DBF-477C-83E2-3599B980532F}"/>
              </a:ext>
            </a:extLst>
          </p:cNvPr>
          <p:cNvCxnSpPr>
            <a:cxnSpLocks/>
          </p:cNvCxnSpPr>
          <p:nvPr/>
        </p:nvCxnSpPr>
        <p:spPr>
          <a:xfrm>
            <a:off x="991020" y="5775247"/>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3" name="Straight Connector 112">
            <a:extLst>
              <a:ext uri="{FF2B5EF4-FFF2-40B4-BE49-F238E27FC236}">
                <a16:creationId xmlns:a16="http://schemas.microsoft.com/office/drawing/2014/main" id="{034043F9-2425-46BE-B884-4CD614591240}"/>
              </a:ext>
            </a:extLst>
          </p:cNvPr>
          <p:cNvCxnSpPr>
            <a:cxnSpLocks/>
          </p:cNvCxnSpPr>
          <p:nvPr/>
        </p:nvCxnSpPr>
        <p:spPr>
          <a:xfrm>
            <a:off x="3177439" y="5757533"/>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4" name="Straight Connector 113">
            <a:extLst>
              <a:ext uri="{FF2B5EF4-FFF2-40B4-BE49-F238E27FC236}">
                <a16:creationId xmlns:a16="http://schemas.microsoft.com/office/drawing/2014/main" id="{468DFA60-8D37-4044-AA08-6CFC8692079F}"/>
              </a:ext>
            </a:extLst>
          </p:cNvPr>
          <p:cNvCxnSpPr>
            <a:cxnSpLocks/>
          </p:cNvCxnSpPr>
          <p:nvPr/>
        </p:nvCxnSpPr>
        <p:spPr>
          <a:xfrm>
            <a:off x="5252624" y="5739009"/>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5" name="Straight Connector 114">
            <a:extLst>
              <a:ext uri="{FF2B5EF4-FFF2-40B4-BE49-F238E27FC236}">
                <a16:creationId xmlns:a16="http://schemas.microsoft.com/office/drawing/2014/main" id="{5530D457-A2B7-47F0-9265-1FC3F06B0FD6}"/>
              </a:ext>
            </a:extLst>
          </p:cNvPr>
          <p:cNvCxnSpPr>
            <a:cxnSpLocks/>
          </p:cNvCxnSpPr>
          <p:nvPr/>
        </p:nvCxnSpPr>
        <p:spPr>
          <a:xfrm>
            <a:off x="7243471" y="5729829"/>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6" name="Straight Connector 115">
            <a:extLst>
              <a:ext uri="{FF2B5EF4-FFF2-40B4-BE49-F238E27FC236}">
                <a16:creationId xmlns:a16="http://schemas.microsoft.com/office/drawing/2014/main" id="{FDFB2C7E-BBF7-4276-A60A-189CF28AABDB}"/>
              </a:ext>
            </a:extLst>
          </p:cNvPr>
          <p:cNvCxnSpPr>
            <a:cxnSpLocks/>
          </p:cNvCxnSpPr>
          <p:nvPr/>
        </p:nvCxnSpPr>
        <p:spPr>
          <a:xfrm>
            <a:off x="9426907" y="5722310"/>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7" name="Straight Connector 116">
            <a:extLst>
              <a:ext uri="{FF2B5EF4-FFF2-40B4-BE49-F238E27FC236}">
                <a16:creationId xmlns:a16="http://schemas.microsoft.com/office/drawing/2014/main" id="{C6014B2E-2FB8-4A36-A3FC-AFE823A30883}"/>
              </a:ext>
            </a:extLst>
          </p:cNvPr>
          <p:cNvCxnSpPr>
            <a:cxnSpLocks/>
          </p:cNvCxnSpPr>
          <p:nvPr/>
        </p:nvCxnSpPr>
        <p:spPr>
          <a:xfrm>
            <a:off x="11403168" y="5708782"/>
            <a:ext cx="1" cy="507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59327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35816-7638-4EC5-B5E4-E041E2F034A4}"/>
              </a:ext>
            </a:extLst>
          </p:cNvPr>
          <p:cNvSpPr>
            <a:spLocks noGrp="1"/>
          </p:cNvSpPr>
          <p:nvPr>
            <p:ph type="title"/>
          </p:nvPr>
        </p:nvSpPr>
        <p:spPr>
          <a:xfrm>
            <a:off x="838200" y="365126"/>
            <a:ext cx="9641114" cy="621846"/>
          </a:xfrm>
        </p:spPr>
        <p:txBody>
          <a:bodyPr>
            <a:normAutofit fontScale="90000"/>
          </a:bodyPr>
          <a:lstStyle/>
          <a:p>
            <a:pPr algn="ctr"/>
            <a:r>
              <a:rPr lang="en-IN"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run MySQL?</a:t>
            </a:r>
          </a:p>
        </p:txBody>
      </p:sp>
      <p:sp>
        <p:nvSpPr>
          <p:cNvPr id="3" name="Content Placeholder 2">
            <a:extLst>
              <a:ext uri="{FF2B5EF4-FFF2-40B4-BE49-F238E27FC236}">
                <a16:creationId xmlns:a16="http://schemas.microsoft.com/office/drawing/2014/main" id="{C020F45D-8DD7-4FFC-B4D3-D81AA917A659}"/>
              </a:ext>
            </a:extLst>
          </p:cNvPr>
          <p:cNvSpPr>
            <a:spLocks noGrp="1"/>
          </p:cNvSpPr>
          <p:nvPr>
            <p:ph idx="1"/>
          </p:nvPr>
        </p:nvSpPr>
        <p:spPr>
          <a:xfrm>
            <a:off x="576943" y="986972"/>
            <a:ext cx="10515600" cy="4351338"/>
          </a:xfrm>
        </p:spPr>
        <p:txBody>
          <a:bodyPr>
            <a:normAutofit/>
          </a:bodyPr>
          <a:lstStyle/>
          <a:p>
            <a:pPr marL="0" indent="0">
              <a:buNone/>
            </a:pPr>
            <a:r>
              <a:rPr lang="en-IN" sz="1800" b="0" i="0" dirty="0">
                <a:solidFill>
                  <a:srgbClr val="202124"/>
                </a:solidFill>
                <a:effectLst/>
                <a:latin typeface="arial" panose="020B0604020202020204" pitchFamily="34" charset="0"/>
              </a:rPr>
              <a:t>Open the Command Prompt and navigate to the bin folder of your MySQL Server installation directory.</a:t>
            </a:r>
          </a:p>
          <a:p>
            <a:pPr marL="0" indent="0">
              <a:buNone/>
            </a:pPr>
            <a:r>
              <a:rPr lang="en-IN" sz="1800" b="0" i="0" dirty="0">
                <a:solidFill>
                  <a:srgbClr val="202124"/>
                </a:solidFill>
                <a:effectLst/>
                <a:latin typeface="arial" panose="020B0604020202020204" pitchFamily="34" charset="0"/>
              </a:rPr>
              <a:t> Then connect to the server using the </a:t>
            </a:r>
            <a:r>
              <a:rPr lang="en-IN" sz="1800" b="1" i="0" dirty="0" err="1">
                <a:solidFill>
                  <a:srgbClr val="202124"/>
                </a:solidFill>
                <a:effectLst/>
                <a:latin typeface="arial" panose="020B0604020202020204" pitchFamily="34" charset="0"/>
              </a:rPr>
              <a:t>mysql</a:t>
            </a:r>
            <a:r>
              <a:rPr lang="en-IN" sz="1800" b="1" i="0" dirty="0">
                <a:solidFill>
                  <a:srgbClr val="202124"/>
                </a:solidFill>
                <a:effectLst/>
                <a:latin typeface="arial" panose="020B0604020202020204" pitchFamily="34" charset="0"/>
              </a:rPr>
              <a:t> -u root -p</a:t>
            </a:r>
            <a:r>
              <a:rPr lang="en-IN" sz="1800" b="0" i="0" dirty="0">
                <a:solidFill>
                  <a:srgbClr val="202124"/>
                </a:solidFill>
                <a:effectLst/>
                <a:latin typeface="arial" panose="020B0604020202020204" pitchFamily="34" charset="0"/>
              </a:rPr>
              <a:t> command. </a:t>
            </a:r>
          </a:p>
          <a:p>
            <a:pPr marL="0" indent="0">
              <a:buNone/>
            </a:pPr>
            <a:r>
              <a:rPr lang="en-IN" sz="1800" b="0" i="0" dirty="0">
                <a:solidFill>
                  <a:srgbClr val="202124"/>
                </a:solidFill>
                <a:effectLst/>
                <a:latin typeface="arial" panose="020B0604020202020204" pitchFamily="34" charset="0"/>
              </a:rPr>
              <a:t>Enter the password. </a:t>
            </a:r>
          </a:p>
          <a:p>
            <a:pPr marL="0" indent="0">
              <a:buNone/>
            </a:pPr>
            <a:r>
              <a:rPr lang="en-IN" sz="1800" b="1" dirty="0"/>
              <a:t>Syntax :- </a:t>
            </a:r>
            <a:r>
              <a:rPr lang="en-IN" sz="1800" dirty="0" err="1"/>
              <a:t>mysql</a:t>
            </a:r>
            <a:r>
              <a:rPr lang="en-IN" sz="1800" dirty="0"/>
              <a:t> -u root -p</a:t>
            </a:r>
          </a:p>
        </p:txBody>
      </p:sp>
    </p:spTree>
    <p:extLst>
      <p:ext uri="{BB962C8B-B14F-4D97-AF65-F5344CB8AC3E}">
        <p14:creationId xmlns:p14="http://schemas.microsoft.com/office/powerpoint/2010/main" val="2582880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E237-A1B0-4B83-B051-79DB3DEAF19D}"/>
              </a:ext>
            </a:extLst>
          </p:cNvPr>
          <p:cNvSpPr>
            <a:spLocks noGrp="1"/>
          </p:cNvSpPr>
          <p:nvPr>
            <p:ph type="title"/>
          </p:nvPr>
        </p:nvSpPr>
        <p:spPr>
          <a:xfrm>
            <a:off x="765628" y="0"/>
            <a:ext cx="10515600" cy="694417"/>
          </a:xfrm>
        </p:spPr>
        <p:txBody>
          <a:bodyPr>
            <a:normAutofit fontScale="90000"/>
          </a:bodyPr>
          <a:lstStyle/>
          <a:p>
            <a:pPr algn="ctr"/>
            <a:r>
              <a:rPr lang="en-IN" i="1" u="sng" dirty="0">
                <a:solidFill>
                  <a:schemeClr val="accent2">
                    <a:lumMod val="75000"/>
                  </a:schemeClr>
                </a:solidFill>
                <a:effectLst>
                  <a:outerShdw blurRad="38100" dist="38100" dir="2700000" algn="tl">
                    <a:srgbClr val="000000">
                      <a:alpha val="43137"/>
                    </a:srgbClr>
                  </a:outerShdw>
                </a:effectLst>
              </a:rPr>
              <a:t>Data types in MySQL Database</a:t>
            </a:r>
          </a:p>
        </p:txBody>
      </p:sp>
      <p:sp>
        <p:nvSpPr>
          <p:cNvPr id="6" name="Content Placeholder 5">
            <a:extLst>
              <a:ext uri="{FF2B5EF4-FFF2-40B4-BE49-F238E27FC236}">
                <a16:creationId xmlns:a16="http://schemas.microsoft.com/office/drawing/2014/main" id="{81294CFD-11A5-46AF-B171-663780CEB097}"/>
              </a:ext>
            </a:extLst>
          </p:cNvPr>
          <p:cNvSpPr>
            <a:spLocks noGrp="1"/>
          </p:cNvSpPr>
          <p:nvPr>
            <p:ph idx="1"/>
          </p:nvPr>
        </p:nvSpPr>
        <p:spPr>
          <a:xfrm>
            <a:off x="549728" y="812801"/>
            <a:ext cx="11092543" cy="413360"/>
          </a:xfrm>
        </p:spPr>
        <p:txBody>
          <a:bodyPr>
            <a:normAutofit/>
          </a:bodyPr>
          <a:lstStyle/>
          <a:p>
            <a:pPr marL="0" indent="0">
              <a:buNone/>
            </a:pPr>
            <a:r>
              <a:rPr lang="en-IN" sz="2000" b="0" i="0" dirty="0">
                <a:solidFill>
                  <a:srgbClr val="374151"/>
                </a:solidFill>
                <a:effectLst/>
                <a:latin typeface="Söhne"/>
              </a:rPr>
              <a:t>In MySQL, data types define the type of data that can be stored in a column of a table.</a:t>
            </a:r>
            <a:endParaRPr lang="en-IN"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815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62EDFEC-B68A-71BD-552D-81BB7A9E033A}"/>
              </a:ext>
            </a:extLst>
          </p:cNvPr>
          <p:cNvGraphicFramePr>
            <a:graphicFrameLocks noGrp="1"/>
          </p:cNvGraphicFramePr>
          <p:nvPr>
            <p:extLst>
              <p:ext uri="{D42A27DB-BD31-4B8C-83A1-F6EECF244321}">
                <p14:modId xmlns:p14="http://schemas.microsoft.com/office/powerpoint/2010/main" val="3012932133"/>
              </p:ext>
            </p:extLst>
          </p:nvPr>
        </p:nvGraphicFramePr>
        <p:xfrm>
          <a:off x="246742" y="166617"/>
          <a:ext cx="11698516" cy="6030864"/>
        </p:xfrm>
        <a:graphic>
          <a:graphicData uri="http://schemas.openxmlformats.org/drawingml/2006/table">
            <a:tbl>
              <a:tblPr firstRow="1" bandRow="1">
                <a:tableStyleId>{5C22544A-7EE6-4342-B048-85BDC9FD1C3A}</a:tableStyleId>
              </a:tblPr>
              <a:tblGrid>
                <a:gridCol w="1669144">
                  <a:extLst>
                    <a:ext uri="{9D8B030D-6E8A-4147-A177-3AD203B41FA5}">
                      <a16:colId xmlns:a16="http://schemas.microsoft.com/office/drawing/2014/main" val="2278857391"/>
                    </a:ext>
                  </a:extLst>
                </a:gridCol>
                <a:gridCol w="2061028">
                  <a:extLst>
                    <a:ext uri="{9D8B030D-6E8A-4147-A177-3AD203B41FA5}">
                      <a16:colId xmlns:a16="http://schemas.microsoft.com/office/drawing/2014/main" val="388238096"/>
                    </a:ext>
                  </a:extLst>
                </a:gridCol>
                <a:gridCol w="914400">
                  <a:extLst>
                    <a:ext uri="{9D8B030D-6E8A-4147-A177-3AD203B41FA5}">
                      <a16:colId xmlns:a16="http://schemas.microsoft.com/office/drawing/2014/main" val="1277460515"/>
                    </a:ext>
                  </a:extLst>
                </a:gridCol>
                <a:gridCol w="7053944">
                  <a:extLst>
                    <a:ext uri="{9D8B030D-6E8A-4147-A177-3AD203B41FA5}">
                      <a16:colId xmlns:a16="http://schemas.microsoft.com/office/drawing/2014/main" val="1460615580"/>
                    </a:ext>
                  </a:extLst>
                </a:gridCol>
              </a:tblGrid>
              <a:tr h="563184">
                <a:tc row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dirty="0"/>
                        <a:t>Numeric type</a:t>
                      </a:r>
                    </a:p>
                    <a:p>
                      <a:pPr algn="ctr"/>
                      <a:endParaRPr lang="en-IN" sz="2000" dirty="0"/>
                    </a:p>
                  </a:txBody>
                  <a:tcPr anchor="ctr"/>
                </a:tc>
                <a:tc>
                  <a:txBody>
                    <a:bodyPr/>
                    <a:lstStyle/>
                    <a:p>
                      <a:r>
                        <a:rPr lang="en-IN" sz="1800" b="1" i="0" dirty="0">
                          <a:solidFill>
                            <a:srgbClr val="374151"/>
                          </a:solidFill>
                          <a:effectLst/>
                          <a:latin typeface="Söhne"/>
                        </a:rPr>
                        <a:t>INTEGER or INT</a:t>
                      </a:r>
                      <a:endParaRPr lang="en-IN" dirty="0"/>
                    </a:p>
                  </a:txBody>
                  <a:tcPr anchor="ctr"/>
                </a:tc>
                <a:tc>
                  <a:txBody>
                    <a:bodyPr/>
                    <a:lstStyle/>
                    <a:p>
                      <a:r>
                        <a:rPr lang="en-IN" dirty="0"/>
                        <a:t>4 bytes</a:t>
                      </a:r>
                    </a:p>
                  </a:txBody>
                  <a:tcPr anchor="ctr"/>
                </a:tc>
                <a:tc>
                  <a:txBody>
                    <a:bodyPr/>
                    <a:lstStyle/>
                    <a:p>
                      <a:r>
                        <a:rPr lang="en-IN" dirty="0"/>
                        <a:t>INTEGER</a:t>
                      </a:r>
                      <a:r>
                        <a:rPr lang="en-IN" sz="1800" b="0" i="0" kern="1200" dirty="0">
                          <a:solidFill>
                            <a:schemeClr val="lt1"/>
                          </a:solidFill>
                          <a:effectLst/>
                          <a:latin typeface="+mn-lt"/>
                          <a:ea typeface="+mn-ea"/>
                          <a:cs typeface="+mn-cs"/>
                        </a:rPr>
                        <a:t> and </a:t>
                      </a:r>
                      <a:r>
                        <a:rPr lang="en-IN" dirty="0"/>
                        <a:t>INT</a:t>
                      </a:r>
                      <a:r>
                        <a:rPr lang="en-IN" sz="1800" b="0" i="0" kern="1200" dirty="0">
                          <a:solidFill>
                            <a:schemeClr val="lt1"/>
                          </a:solidFill>
                          <a:effectLst/>
                          <a:latin typeface="+mn-lt"/>
                          <a:ea typeface="+mn-ea"/>
                          <a:cs typeface="+mn-cs"/>
                        </a:rPr>
                        <a:t> are essentially the same, and you can use them interchangeably. Both data types are used to store whole numbers . Both will work the same way in practice.</a:t>
                      </a:r>
                      <a:endParaRPr lang="en-IN" dirty="0"/>
                    </a:p>
                  </a:txBody>
                  <a:tcPr anchor="ctr"/>
                </a:tc>
                <a:extLst>
                  <a:ext uri="{0D108BD9-81ED-4DB2-BD59-A6C34878D82A}">
                    <a16:rowId xmlns:a16="http://schemas.microsoft.com/office/drawing/2014/main" val="4155733011"/>
                  </a:ext>
                </a:extLst>
              </a:tr>
              <a:tr h="563184">
                <a:tc vMerge="1">
                  <a:txBody>
                    <a:bodyPr/>
                    <a:lstStyle/>
                    <a:p>
                      <a:endParaRPr lang="en-IN" dirty="0"/>
                    </a:p>
                  </a:txBody>
                  <a:tcPr/>
                </a:tc>
                <a:tc>
                  <a:txBody>
                    <a:bodyPr/>
                    <a:lstStyle/>
                    <a:p>
                      <a:r>
                        <a:rPr lang="en-IN" sz="1800" b="1" i="0" dirty="0">
                          <a:solidFill>
                            <a:srgbClr val="374151"/>
                          </a:solidFill>
                          <a:effectLst/>
                          <a:latin typeface="Söhne"/>
                        </a:rPr>
                        <a:t>TINYINT</a:t>
                      </a:r>
                      <a:endParaRPr lang="en-IN" dirty="0"/>
                    </a:p>
                  </a:txBody>
                  <a:tcPr anchor="ctr"/>
                </a:tc>
                <a:tc>
                  <a:txBody>
                    <a:bodyPr/>
                    <a:lstStyle/>
                    <a:p>
                      <a:r>
                        <a:rPr lang="en-IN" dirty="0"/>
                        <a:t>1 byte</a:t>
                      </a:r>
                    </a:p>
                  </a:txBody>
                  <a:tcPr anchor="ctr"/>
                </a:tc>
                <a:tc>
                  <a:txBody>
                    <a:bodyPr/>
                    <a:lstStyle/>
                    <a:p>
                      <a:r>
                        <a:rPr lang="en-IN" sz="1800" b="0" i="0" kern="1200" dirty="0">
                          <a:solidFill>
                            <a:schemeClr val="dk1"/>
                          </a:solidFill>
                          <a:effectLst/>
                          <a:latin typeface="+mn-lt"/>
                          <a:ea typeface="+mn-ea"/>
                          <a:cs typeface="+mn-cs"/>
                        </a:rPr>
                        <a:t>It's used for storing very small integer values.</a:t>
                      </a:r>
                      <a:endParaRPr lang="en-IN" dirty="0"/>
                    </a:p>
                  </a:txBody>
                  <a:tcPr anchor="ctr"/>
                </a:tc>
                <a:extLst>
                  <a:ext uri="{0D108BD9-81ED-4DB2-BD59-A6C34878D82A}">
                    <a16:rowId xmlns:a16="http://schemas.microsoft.com/office/drawing/2014/main" val="1985530661"/>
                  </a:ext>
                </a:extLst>
              </a:tr>
              <a:tr h="563184">
                <a:tc vMerge="1">
                  <a:txBody>
                    <a:bodyPr/>
                    <a:lstStyle/>
                    <a:p>
                      <a:endParaRPr lang="en-IN" dirty="0"/>
                    </a:p>
                  </a:txBody>
                  <a:tcPr/>
                </a:tc>
                <a:tc>
                  <a:txBody>
                    <a:bodyPr/>
                    <a:lstStyle/>
                    <a:p>
                      <a:r>
                        <a:rPr lang="en-IN" sz="1800" b="1" i="0" dirty="0">
                          <a:solidFill>
                            <a:srgbClr val="374151"/>
                          </a:solidFill>
                          <a:effectLst/>
                          <a:latin typeface="Söhne"/>
                        </a:rPr>
                        <a:t>SMALLINT</a:t>
                      </a:r>
                      <a:endParaRPr lang="en-IN" dirty="0"/>
                    </a:p>
                  </a:txBody>
                  <a:tcPr anchor="ctr"/>
                </a:tc>
                <a:tc>
                  <a:txBody>
                    <a:bodyPr/>
                    <a:lstStyle/>
                    <a:p>
                      <a:r>
                        <a:rPr lang="en-IN" dirty="0"/>
                        <a:t>2 bytes</a:t>
                      </a:r>
                    </a:p>
                  </a:txBody>
                  <a:tcPr anchor="ctr"/>
                </a:tc>
                <a:tc>
                  <a:txBody>
                    <a:bodyPr/>
                    <a:lstStyle/>
                    <a:p>
                      <a:r>
                        <a:rPr lang="en-IN" sz="1800" b="0" i="0" kern="1200" dirty="0">
                          <a:solidFill>
                            <a:schemeClr val="dk1"/>
                          </a:solidFill>
                          <a:effectLst/>
                          <a:latin typeface="+mn-lt"/>
                          <a:ea typeface="+mn-ea"/>
                          <a:cs typeface="+mn-cs"/>
                        </a:rPr>
                        <a:t>It's used for small integer values.</a:t>
                      </a:r>
                      <a:endParaRPr lang="en-IN" dirty="0"/>
                    </a:p>
                  </a:txBody>
                  <a:tcPr anchor="ctr"/>
                </a:tc>
                <a:extLst>
                  <a:ext uri="{0D108BD9-81ED-4DB2-BD59-A6C34878D82A}">
                    <a16:rowId xmlns:a16="http://schemas.microsoft.com/office/drawing/2014/main" val="4149506307"/>
                  </a:ext>
                </a:extLst>
              </a:tr>
              <a:tr h="563184">
                <a:tc vMerge="1">
                  <a:txBody>
                    <a:bodyPr/>
                    <a:lstStyle/>
                    <a:p>
                      <a:endParaRPr lang="en-IN" dirty="0"/>
                    </a:p>
                  </a:txBody>
                  <a:tcPr/>
                </a:tc>
                <a:tc>
                  <a:txBody>
                    <a:bodyPr/>
                    <a:lstStyle/>
                    <a:p>
                      <a:r>
                        <a:rPr lang="en-IN" sz="1800" b="1" i="0" dirty="0">
                          <a:solidFill>
                            <a:srgbClr val="374151"/>
                          </a:solidFill>
                          <a:effectLst/>
                          <a:latin typeface="Söhne"/>
                        </a:rPr>
                        <a:t>MEDIUMINT</a:t>
                      </a:r>
                      <a:endParaRPr lang="en-IN" dirty="0"/>
                    </a:p>
                  </a:txBody>
                  <a:tcPr anchor="ctr"/>
                </a:tc>
                <a:tc>
                  <a:txBody>
                    <a:bodyPr/>
                    <a:lstStyle/>
                    <a:p>
                      <a:r>
                        <a:rPr lang="en-IN" dirty="0"/>
                        <a:t>3 bytes</a:t>
                      </a:r>
                    </a:p>
                  </a:txBody>
                  <a:tcPr anchor="ctr"/>
                </a:tc>
                <a:tc>
                  <a:txBody>
                    <a:bodyPr/>
                    <a:lstStyle/>
                    <a:p>
                      <a:r>
                        <a:rPr lang="en-IN" sz="1800" b="0" i="0" kern="1200" dirty="0">
                          <a:solidFill>
                            <a:schemeClr val="dk1"/>
                          </a:solidFill>
                          <a:effectLst/>
                          <a:latin typeface="+mn-lt"/>
                          <a:ea typeface="+mn-ea"/>
                          <a:cs typeface="+mn-cs"/>
                        </a:rPr>
                        <a:t>It's used for medium-sized integer values.</a:t>
                      </a:r>
                      <a:endParaRPr lang="en-IN" dirty="0"/>
                    </a:p>
                  </a:txBody>
                  <a:tcPr anchor="ctr"/>
                </a:tc>
                <a:extLst>
                  <a:ext uri="{0D108BD9-81ED-4DB2-BD59-A6C34878D82A}">
                    <a16:rowId xmlns:a16="http://schemas.microsoft.com/office/drawing/2014/main" val="3957503498"/>
                  </a:ext>
                </a:extLst>
              </a:tr>
              <a:tr h="563184">
                <a:tc vMerge="1">
                  <a:txBody>
                    <a:bodyPr/>
                    <a:lstStyle/>
                    <a:p>
                      <a:endParaRPr lang="en-IN" dirty="0"/>
                    </a:p>
                  </a:txBody>
                  <a:tcPr anchor="ctr"/>
                </a:tc>
                <a:tc>
                  <a:txBody>
                    <a:bodyPr/>
                    <a:lstStyle/>
                    <a:p>
                      <a:r>
                        <a:rPr lang="en-IN" sz="1800" b="1" i="0" dirty="0">
                          <a:solidFill>
                            <a:srgbClr val="374151"/>
                          </a:solidFill>
                          <a:effectLst/>
                          <a:latin typeface="Söhne"/>
                        </a:rPr>
                        <a:t>BIGINT</a:t>
                      </a:r>
                      <a:endParaRPr lang="en-IN" dirty="0"/>
                    </a:p>
                  </a:txBody>
                  <a:tcPr anchor="ctr"/>
                </a:tc>
                <a:tc>
                  <a:txBody>
                    <a:bodyPr/>
                    <a:lstStyle/>
                    <a:p>
                      <a:r>
                        <a:rPr lang="en-IN" dirty="0"/>
                        <a:t>8 bytes</a:t>
                      </a:r>
                    </a:p>
                  </a:txBody>
                  <a:tcPr anchor="ctr"/>
                </a:tc>
                <a:tc>
                  <a:txBody>
                    <a:bodyPr/>
                    <a:lstStyle/>
                    <a:p>
                      <a:r>
                        <a:rPr lang="en-IN" sz="1800" b="0" i="0" kern="1200" dirty="0">
                          <a:solidFill>
                            <a:schemeClr val="dk1"/>
                          </a:solidFill>
                          <a:effectLst/>
                          <a:latin typeface="+mn-lt"/>
                          <a:ea typeface="+mn-ea"/>
                          <a:cs typeface="+mn-cs"/>
                        </a:rPr>
                        <a:t>It's used for large integer values.</a:t>
                      </a:r>
                      <a:endParaRPr lang="en-IN" dirty="0"/>
                    </a:p>
                  </a:txBody>
                  <a:tcPr anchor="ctr"/>
                </a:tc>
                <a:extLst>
                  <a:ext uri="{0D108BD9-81ED-4DB2-BD59-A6C34878D82A}">
                    <a16:rowId xmlns:a16="http://schemas.microsoft.com/office/drawing/2014/main" val="1757341273"/>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NUMERIC</a:t>
                      </a:r>
                      <a:endParaRPr lang="en-IN" dirty="0"/>
                    </a:p>
                  </a:txBody>
                  <a:tcPr anchor="ctr"/>
                </a:tc>
                <a:tc>
                  <a:txBody>
                    <a:bodyPr/>
                    <a:lstStyle/>
                    <a:p>
                      <a:endParaRPr lang="en-IN"/>
                    </a:p>
                  </a:txBody>
                  <a:tcPr anchor="ctr"/>
                </a:tc>
                <a:tc rowSpan="2">
                  <a:txBody>
                    <a:bodyPr/>
                    <a:lstStyle/>
                    <a:p>
                      <a:r>
                        <a:rPr lang="en-IN" dirty="0"/>
                        <a:t>DECIMAL</a:t>
                      </a:r>
                      <a:r>
                        <a:rPr lang="en-IN" sz="1800" b="0" i="0" kern="1200" dirty="0">
                          <a:solidFill>
                            <a:schemeClr val="dk1"/>
                          </a:solidFill>
                          <a:effectLst/>
                          <a:latin typeface="+mn-lt"/>
                          <a:ea typeface="+mn-ea"/>
                          <a:cs typeface="+mn-cs"/>
                        </a:rPr>
                        <a:t> and </a:t>
                      </a:r>
                      <a:r>
                        <a:rPr lang="en-IN" dirty="0"/>
                        <a:t>NUMERIC</a:t>
                      </a:r>
                      <a:r>
                        <a:rPr lang="en-IN" sz="1800" b="0" i="0" kern="1200" dirty="0">
                          <a:solidFill>
                            <a:schemeClr val="dk1"/>
                          </a:solidFill>
                          <a:effectLst/>
                          <a:latin typeface="+mn-lt"/>
                          <a:ea typeface="+mn-ea"/>
                          <a:cs typeface="+mn-cs"/>
                        </a:rPr>
                        <a:t> are data types used in databases like MySQL to store numbers with a fixed number of digits both before and after the decimal point. These types are commonly used when you need exact representations of decimal numbers. For example, </a:t>
                      </a:r>
                    </a:p>
                    <a:p>
                      <a:r>
                        <a:rPr lang="en-IN" sz="1800" b="0" i="0" kern="1200" dirty="0">
                          <a:solidFill>
                            <a:schemeClr val="dk1"/>
                          </a:solidFill>
                          <a:effectLst/>
                          <a:latin typeface="+mn-lt"/>
                          <a:ea typeface="+mn-ea"/>
                          <a:cs typeface="+mn-cs"/>
                        </a:rPr>
                        <a:t>if you define a </a:t>
                      </a:r>
                      <a:r>
                        <a:rPr lang="en-IN" dirty="0"/>
                        <a:t>DECIMAL(5,2)</a:t>
                      </a:r>
                      <a:r>
                        <a:rPr lang="en-IN" sz="1800" b="0" i="0" kern="1200" dirty="0">
                          <a:solidFill>
                            <a:schemeClr val="dk1"/>
                          </a:solidFill>
                          <a:effectLst/>
                          <a:latin typeface="+mn-lt"/>
                          <a:ea typeface="+mn-ea"/>
                          <a:cs typeface="+mn-cs"/>
                        </a:rPr>
                        <a:t>, it means you want a number with a total of 5 digits, and 2 of them should be after the decimal point.</a:t>
                      </a:r>
                      <a:endParaRPr lang="en-IN" dirty="0"/>
                    </a:p>
                  </a:txBody>
                  <a:tcPr anchor="ctr"/>
                </a:tc>
                <a:extLst>
                  <a:ext uri="{0D108BD9-81ED-4DB2-BD59-A6C34878D82A}">
                    <a16:rowId xmlns:a16="http://schemas.microsoft.com/office/drawing/2014/main" val="54194203"/>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DECIMAL </a:t>
                      </a:r>
                      <a:endParaRPr lang="en-IN" dirty="0"/>
                    </a:p>
                  </a:txBody>
                  <a:tcPr anchor="ctr"/>
                </a:tc>
                <a:tc>
                  <a:txBody>
                    <a:bodyPr/>
                    <a:lstStyle/>
                    <a:p>
                      <a:endParaRPr lang="en-IN"/>
                    </a:p>
                  </a:txBody>
                  <a:tcPr anchor="ctr"/>
                </a:tc>
                <a:tc vMerge="1">
                  <a:txBody>
                    <a:bodyPr/>
                    <a:lstStyle/>
                    <a:p>
                      <a:endParaRPr lang="en-IN" dirty="0"/>
                    </a:p>
                  </a:txBody>
                  <a:tcPr anchor="ctr"/>
                </a:tc>
                <a:extLst>
                  <a:ext uri="{0D108BD9-81ED-4DB2-BD59-A6C34878D82A}">
                    <a16:rowId xmlns:a16="http://schemas.microsoft.com/office/drawing/2014/main" val="1588267635"/>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FLOAT </a:t>
                      </a:r>
                      <a:endParaRPr lang="en-IN" dirty="0"/>
                    </a:p>
                  </a:txBody>
                  <a:tcPr anchor="ctr"/>
                </a:tc>
                <a:tc>
                  <a:txBody>
                    <a:bodyPr/>
                    <a:lstStyle/>
                    <a:p>
                      <a:r>
                        <a:rPr lang="en-IN" dirty="0"/>
                        <a:t>4 bytes</a:t>
                      </a:r>
                    </a:p>
                  </a:txBody>
                  <a:tcPr anchor="ctr"/>
                </a:tc>
                <a:tc rowSpan="2">
                  <a:txBody>
                    <a:bodyPr/>
                    <a:lstStyle/>
                    <a:p>
                      <a:r>
                        <a:rPr lang="en-IN" sz="1800" b="0" i="0" kern="1200" dirty="0">
                          <a:solidFill>
                            <a:schemeClr val="dk1"/>
                          </a:solidFill>
                          <a:effectLst/>
                          <a:latin typeface="+mn-lt"/>
                          <a:ea typeface="+mn-ea"/>
                          <a:cs typeface="+mn-cs"/>
                        </a:rPr>
                        <a:t>FLOAT and DOUBLE are both data types used in databases, including MySQL, to store numerical values that have a decimal component.</a:t>
                      </a:r>
                      <a:endParaRPr lang="en-IN" dirty="0"/>
                    </a:p>
                  </a:txBody>
                  <a:tcPr anchor="ctr"/>
                </a:tc>
                <a:extLst>
                  <a:ext uri="{0D108BD9-81ED-4DB2-BD59-A6C34878D82A}">
                    <a16:rowId xmlns:a16="http://schemas.microsoft.com/office/drawing/2014/main" val="705522476"/>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DOUBLE</a:t>
                      </a:r>
                      <a:endParaRPr lang="en-IN" dirty="0"/>
                    </a:p>
                  </a:txBody>
                  <a:tcPr anchor="ctr"/>
                </a:tc>
                <a:tc>
                  <a:txBody>
                    <a:bodyPr/>
                    <a:lstStyle/>
                    <a:p>
                      <a:r>
                        <a:rPr lang="en-IN" dirty="0"/>
                        <a:t>8 bytes</a:t>
                      </a:r>
                    </a:p>
                  </a:txBody>
                  <a:tcPr anchor="ctr"/>
                </a:tc>
                <a:tc vMerge="1">
                  <a:txBody>
                    <a:bodyPr/>
                    <a:lstStyle/>
                    <a:p>
                      <a:endParaRPr lang="en-IN" dirty="0"/>
                    </a:p>
                  </a:txBody>
                  <a:tcPr anchor="ctr"/>
                </a:tc>
                <a:extLst>
                  <a:ext uri="{0D108BD9-81ED-4DB2-BD59-A6C34878D82A}">
                    <a16:rowId xmlns:a16="http://schemas.microsoft.com/office/drawing/2014/main" val="877447990"/>
                  </a:ext>
                </a:extLst>
              </a:tr>
            </a:tbl>
          </a:graphicData>
        </a:graphic>
      </p:graphicFrame>
    </p:spTree>
    <p:extLst>
      <p:ext uri="{BB962C8B-B14F-4D97-AF65-F5344CB8AC3E}">
        <p14:creationId xmlns:p14="http://schemas.microsoft.com/office/powerpoint/2010/main" val="2942779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5A7FD56-CD94-0229-81B7-8305B3A26FBC}"/>
              </a:ext>
            </a:extLst>
          </p:cNvPr>
          <p:cNvGraphicFramePr>
            <a:graphicFrameLocks noGrp="1"/>
          </p:cNvGraphicFramePr>
          <p:nvPr>
            <p:extLst>
              <p:ext uri="{D42A27DB-BD31-4B8C-83A1-F6EECF244321}">
                <p14:modId xmlns:p14="http://schemas.microsoft.com/office/powerpoint/2010/main" val="2233550557"/>
              </p:ext>
            </p:extLst>
          </p:nvPr>
        </p:nvGraphicFramePr>
        <p:xfrm>
          <a:off x="137885" y="210160"/>
          <a:ext cx="11916229" cy="6492240"/>
        </p:xfrm>
        <a:graphic>
          <a:graphicData uri="http://schemas.openxmlformats.org/drawingml/2006/table">
            <a:tbl>
              <a:tblPr firstRow="1" bandRow="1">
                <a:tableStyleId>{5C22544A-7EE6-4342-B048-85BDC9FD1C3A}</a:tableStyleId>
              </a:tblPr>
              <a:tblGrid>
                <a:gridCol w="1504203">
                  <a:extLst>
                    <a:ext uri="{9D8B030D-6E8A-4147-A177-3AD203B41FA5}">
                      <a16:colId xmlns:a16="http://schemas.microsoft.com/office/drawing/2014/main" val="2278857391"/>
                    </a:ext>
                  </a:extLst>
                </a:gridCol>
                <a:gridCol w="1304312">
                  <a:extLst>
                    <a:ext uri="{9D8B030D-6E8A-4147-A177-3AD203B41FA5}">
                      <a16:colId xmlns:a16="http://schemas.microsoft.com/office/drawing/2014/main" val="388238096"/>
                    </a:ext>
                  </a:extLst>
                </a:gridCol>
                <a:gridCol w="9107714">
                  <a:extLst>
                    <a:ext uri="{9D8B030D-6E8A-4147-A177-3AD203B41FA5}">
                      <a16:colId xmlns:a16="http://schemas.microsoft.com/office/drawing/2014/main" val="1460615580"/>
                    </a:ext>
                  </a:extLst>
                </a:gridCol>
              </a:tblGrid>
              <a:tr h="563184">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i="0" kern="1200" dirty="0">
                          <a:solidFill>
                            <a:schemeClr val="lt1"/>
                          </a:solidFill>
                          <a:effectLst/>
                          <a:latin typeface="+mn-lt"/>
                          <a:ea typeface="+mn-ea"/>
                          <a:cs typeface="+mn-cs"/>
                        </a:rPr>
                        <a:t>String Types</a:t>
                      </a:r>
                      <a:endParaRPr lang="en-IN" sz="3200" dirty="0"/>
                    </a:p>
                  </a:txBody>
                  <a:tcPr anchor="ctr"/>
                </a:tc>
                <a:tc>
                  <a:txBody>
                    <a:bodyPr/>
                    <a:lstStyle/>
                    <a:p>
                      <a:r>
                        <a:rPr lang="en-IN" sz="1800" b="1" i="0" kern="1200" dirty="0">
                          <a:solidFill>
                            <a:schemeClr val="lt1"/>
                          </a:solidFill>
                          <a:effectLst/>
                          <a:latin typeface="+mn-lt"/>
                          <a:ea typeface="+mn-ea"/>
                          <a:cs typeface="+mn-cs"/>
                        </a:rPr>
                        <a:t>CHAR </a:t>
                      </a:r>
                      <a:endParaRPr lang="en-IN" dirty="0"/>
                    </a:p>
                  </a:txBody>
                  <a:tcPr anchor="ctr"/>
                </a:tc>
                <a:tc>
                  <a:txBody>
                    <a:bodyPr/>
                    <a:lstStyle/>
                    <a:p>
                      <a:r>
                        <a:rPr lang="en-IN" sz="1800" b="0" i="0" kern="1200" dirty="0">
                          <a:solidFill>
                            <a:schemeClr val="lt1"/>
                          </a:solidFill>
                          <a:effectLst/>
                          <a:latin typeface="+mn-lt"/>
                          <a:ea typeface="+mn-ea"/>
                          <a:cs typeface="+mn-cs"/>
                        </a:rPr>
                        <a:t>The </a:t>
                      </a:r>
                      <a:r>
                        <a:rPr lang="en-IN" dirty="0"/>
                        <a:t>CHAR</a:t>
                      </a:r>
                      <a:r>
                        <a:rPr lang="en-IN" sz="1800" b="0" i="0" kern="1200" dirty="0">
                          <a:solidFill>
                            <a:schemeClr val="lt1"/>
                          </a:solidFill>
                          <a:effectLst/>
                          <a:latin typeface="+mn-lt"/>
                          <a:ea typeface="+mn-ea"/>
                          <a:cs typeface="+mn-cs"/>
                        </a:rPr>
                        <a:t> data type is used to store fixed-length character strings. </a:t>
                      </a:r>
                      <a:r>
                        <a:rPr lang="en-IN" sz="1800" b="1" i="0" kern="1200" dirty="0">
                          <a:solidFill>
                            <a:schemeClr val="tx1"/>
                          </a:solidFill>
                          <a:effectLst/>
                          <a:latin typeface="+mn-lt"/>
                          <a:ea typeface="+mn-ea"/>
                          <a:cs typeface="+mn-cs"/>
                        </a:rPr>
                        <a:t>For example, </a:t>
                      </a:r>
                      <a:r>
                        <a:rPr lang="en-IN" sz="1800" b="0" i="0" kern="1200" dirty="0">
                          <a:solidFill>
                            <a:schemeClr val="lt1"/>
                          </a:solidFill>
                          <a:effectLst/>
                          <a:latin typeface="+mn-lt"/>
                          <a:ea typeface="+mn-ea"/>
                          <a:cs typeface="+mn-cs"/>
                        </a:rPr>
                        <a:t>if you define a column as </a:t>
                      </a:r>
                      <a:r>
                        <a:rPr lang="en-IN" dirty="0"/>
                        <a:t>CHAR(10)</a:t>
                      </a:r>
                      <a:r>
                        <a:rPr lang="en-IN" sz="1800" b="0" i="0" kern="1200" dirty="0">
                          <a:solidFill>
                            <a:schemeClr val="lt1"/>
                          </a:solidFill>
                          <a:effectLst/>
                          <a:latin typeface="+mn-lt"/>
                          <a:ea typeface="+mn-ea"/>
                          <a:cs typeface="+mn-cs"/>
                        </a:rPr>
                        <a:t>, it will always occupy 10 characters of storage, If the actual string is shorter than the specified length(10), MySQL fill the extra space with blank characters. </a:t>
                      </a:r>
                      <a:br>
                        <a:rPr lang="en-IN" dirty="0"/>
                      </a:br>
                      <a:r>
                        <a:rPr lang="en-IN" sz="1800" b="0" i="0" kern="1200" dirty="0">
                          <a:solidFill>
                            <a:schemeClr val="lt1"/>
                          </a:solidFill>
                          <a:effectLst/>
                          <a:latin typeface="+mn-lt"/>
                          <a:ea typeface="+mn-ea"/>
                          <a:cs typeface="+mn-cs"/>
                        </a:rPr>
                        <a:t>A blank character, often referred to as a space character, is a non-printable character that represents an empty space.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lt1"/>
                          </a:solidFill>
                          <a:effectLst/>
                          <a:latin typeface="+mn-lt"/>
                          <a:ea typeface="+mn-ea"/>
                          <a:cs typeface="+mn-cs"/>
                        </a:rPr>
                        <a:t>Syntax: </a:t>
                      </a:r>
                      <a:r>
                        <a:rPr lang="en-IN" dirty="0"/>
                        <a:t>CHAR(fixed-size)</a:t>
                      </a:r>
                    </a:p>
                  </a:txBody>
                  <a:tcPr anchor="ctr"/>
                </a:tc>
                <a:extLst>
                  <a:ext uri="{0D108BD9-81ED-4DB2-BD59-A6C34878D82A}">
                    <a16:rowId xmlns:a16="http://schemas.microsoft.com/office/drawing/2014/main" val="4155733011"/>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VARCHAR</a:t>
                      </a:r>
                      <a:endParaRPr lang="en-IN" dirty="0"/>
                    </a:p>
                  </a:txBody>
                  <a:tcPr anchor="ctr"/>
                </a:tc>
                <a:tc>
                  <a:txBody>
                    <a:bodyPr/>
                    <a:lstStyle/>
                    <a:p>
                      <a:r>
                        <a:rPr lang="en-IN" dirty="0"/>
                        <a:t>VARCHAR</a:t>
                      </a:r>
                      <a:r>
                        <a:rPr lang="en-IN" sz="1800" b="0" i="0" kern="1200" dirty="0">
                          <a:solidFill>
                            <a:schemeClr val="dk1"/>
                          </a:solidFill>
                          <a:effectLst/>
                          <a:latin typeface="+mn-lt"/>
                          <a:ea typeface="+mn-ea"/>
                          <a:cs typeface="+mn-cs"/>
                        </a:rPr>
                        <a:t> is a data type used to store variable-length character strings. The term "variable-length" means that the storage space required for a </a:t>
                      </a:r>
                      <a:r>
                        <a:rPr lang="en-IN" dirty="0"/>
                        <a:t>VARCHAR</a:t>
                      </a:r>
                      <a:r>
                        <a:rPr lang="en-IN" sz="1800" b="0" i="0" kern="1200" dirty="0">
                          <a:solidFill>
                            <a:schemeClr val="dk1"/>
                          </a:solidFill>
                          <a:effectLst/>
                          <a:latin typeface="+mn-lt"/>
                          <a:ea typeface="+mn-ea"/>
                          <a:cs typeface="+mn-cs"/>
                        </a:rPr>
                        <a:t> column is determined by the length of the actual data stored in that column.</a:t>
                      </a:r>
                      <a:r>
                        <a:rPr lang="en-IN" sz="1800" b="1" i="0" kern="1200" dirty="0">
                          <a:solidFill>
                            <a:schemeClr val="tx1"/>
                          </a:solidFill>
                          <a:effectLst/>
                          <a:latin typeface="+mn-lt"/>
                          <a:ea typeface="+mn-ea"/>
                          <a:cs typeface="+mn-cs"/>
                        </a:rPr>
                        <a:t> For example, </a:t>
                      </a:r>
                      <a:r>
                        <a:rPr lang="en-IN" sz="1800" b="0" i="0" kern="1200" dirty="0">
                          <a:solidFill>
                            <a:schemeClr val="tx1"/>
                          </a:solidFill>
                          <a:effectLst/>
                          <a:latin typeface="+mn-lt"/>
                          <a:ea typeface="+mn-ea"/>
                          <a:cs typeface="+mn-cs"/>
                        </a:rPr>
                        <a:t>if you define a column as VAR</a:t>
                      </a:r>
                      <a:r>
                        <a:rPr lang="en-IN" dirty="0"/>
                        <a:t>CHAR(30)</a:t>
                      </a:r>
                      <a:r>
                        <a:rPr lang="en-IN" sz="1800" b="0" i="0" kern="1200" dirty="0">
                          <a:solidFill>
                            <a:schemeClr val="tx1"/>
                          </a:solidFill>
                          <a:effectLst/>
                          <a:latin typeface="+mn-lt"/>
                          <a:ea typeface="+mn-ea"/>
                          <a:cs typeface="+mn-cs"/>
                        </a:rPr>
                        <a:t>, this column contains maximum 30 character. If you insert data that contains less than 30 character into this column, The size of column will be equals to the size of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Syntax: </a:t>
                      </a:r>
                      <a:r>
                        <a:rPr lang="en-IN" sz="1800" b="1" i="0" kern="1200" dirty="0">
                          <a:solidFill>
                            <a:schemeClr val="dk1"/>
                          </a:solidFill>
                          <a:effectLst/>
                          <a:latin typeface="+mn-lt"/>
                          <a:ea typeface="+mn-ea"/>
                          <a:cs typeface="+mn-cs"/>
                        </a:rPr>
                        <a:t>VARCHAR(max-size)</a:t>
                      </a:r>
                      <a:endParaRPr lang="en-IN" dirty="0"/>
                    </a:p>
                  </a:txBody>
                  <a:tcPr anchor="ctr"/>
                </a:tc>
                <a:extLst>
                  <a:ext uri="{0D108BD9-81ED-4DB2-BD59-A6C34878D82A}">
                    <a16:rowId xmlns:a16="http://schemas.microsoft.com/office/drawing/2014/main" val="1985530661"/>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TEXT</a:t>
                      </a:r>
                      <a:endParaRPr lang="en-IN" dirty="0"/>
                    </a:p>
                  </a:txBody>
                  <a:tcPr anchor="ctr"/>
                </a:tc>
                <a:tc>
                  <a:txBody>
                    <a:bodyPr/>
                    <a:lstStyle/>
                    <a:p>
                      <a:r>
                        <a:rPr lang="en-IN" sz="1800" b="0" i="0" kern="1200" dirty="0">
                          <a:solidFill>
                            <a:schemeClr val="dk1"/>
                          </a:solidFill>
                          <a:effectLst/>
                          <a:latin typeface="+mn-lt"/>
                          <a:ea typeface="+mn-ea"/>
                          <a:cs typeface="+mn-cs"/>
                        </a:rPr>
                        <a:t>the </a:t>
                      </a:r>
                      <a:r>
                        <a:rPr lang="en-IN" dirty="0"/>
                        <a:t>TEXT</a:t>
                      </a:r>
                      <a:r>
                        <a:rPr lang="en-IN" sz="1800" b="0" i="0" kern="1200" dirty="0">
                          <a:solidFill>
                            <a:schemeClr val="dk1"/>
                          </a:solidFill>
                          <a:effectLst/>
                          <a:latin typeface="+mn-lt"/>
                          <a:ea typeface="+mn-ea"/>
                          <a:cs typeface="+mn-cs"/>
                        </a:rPr>
                        <a:t> data type is used for storing large strings or text data. </a:t>
                      </a:r>
                      <a:r>
                        <a:rPr lang="en-IN" dirty="0"/>
                        <a:t>TEXT</a:t>
                      </a:r>
                      <a:r>
                        <a:rPr lang="en-IN" sz="1800" b="0" i="0" kern="1200" dirty="0">
                          <a:solidFill>
                            <a:schemeClr val="dk1"/>
                          </a:solidFill>
                          <a:effectLst/>
                          <a:latin typeface="+mn-lt"/>
                          <a:ea typeface="+mn-ea"/>
                          <a:cs typeface="+mn-cs"/>
                        </a:rPr>
                        <a:t> columns can hold variable-length character strings, and they are ideal for storing large amounts of text, such as paragraphs or entire documents.</a:t>
                      </a:r>
                    </a:p>
                    <a:p>
                      <a:r>
                        <a:rPr lang="en-IN" sz="1800" b="0" i="0" kern="1200" dirty="0">
                          <a:solidFill>
                            <a:schemeClr val="dk1"/>
                          </a:solidFill>
                          <a:effectLst/>
                          <a:latin typeface="+mn-lt"/>
                          <a:ea typeface="+mn-ea"/>
                          <a:cs typeface="+mn-cs"/>
                        </a:rPr>
                        <a:t>Types: </a:t>
                      </a:r>
                      <a:r>
                        <a:rPr lang="en-IN" sz="1800" b="1" i="0" kern="1200" dirty="0">
                          <a:solidFill>
                            <a:schemeClr val="dk1"/>
                          </a:solidFill>
                          <a:effectLst/>
                          <a:latin typeface="+mn-lt"/>
                          <a:ea typeface="+mn-ea"/>
                          <a:cs typeface="+mn-cs"/>
                        </a:rPr>
                        <a:t>TINYTEXT, TEXT, MEDIUMTEXT, LONGTEXT.</a:t>
                      </a:r>
                      <a:endParaRPr lang="en-IN" dirty="0"/>
                    </a:p>
                  </a:txBody>
                  <a:tcPr anchor="ctr"/>
                </a:tc>
                <a:extLst>
                  <a:ext uri="{0D108BD9-81ED-4DB2-BD59-A6C34878D82A}">
                    <a16:rowId xmlns:a16="http://schemas.microsoft.com/office/drawing/2014/main" val="4149506307"/>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ENUM </a:t>
                      </a:r>
                      <a:endParaRPr lang="en-IN" dirty="0"/>
                    </a:p>
                  </a:txBody>
                  <a:tcPr anchor="ctr"/>
                </a:tc>
                <a:tc>
                  <a:txBody>
                    <a:bodyPr/>
                    <a:lstStyle/>
                    <a:p>
                      <a:r>
                        <a:rPr lang="en-IN" sz="1800" b="0" i="0" kern="1200" dirty="0">
                          <a:solidFill>
                            <a:schemeClr val="dk1"/>
                          </a:solidFill>
                          <a:effectLst/>
                          <a:latin typeface="+mn-lt"/>
                          <a:ea typeface="+mn-ea"/>
                          <a:cs typeface="+mn-cs"/>
                        </a:rPr>
                        <a:t>ENUM data type is used to store single value that are specified in the list during table creation. </a:t>
                      </a:r>
                    </a:p>
                    <a:p>
                      <a:r>
                        <a:rPr lang="en-IN" sz="1800" b="0" i="0" kern="1200" dirty="0">
                          <a:solidFill>
                            <a:schemeClr val="dk1"/>
                          </a:solidFill>
                          <a:effectLst/>
                          <a:latin typeface="+mn-lt"/>
                          <a:ea typeface="+mn-ea"/>
                          <a:cs typeface="+mn-cs"/>
                        </a:rPr>
                        <a:t>ENUM values are stored in the order in which they are listed during table creation. The first value in the list has an index of 1, the second has an index of 2, and so on.</a:t>
                      </a:r>
                      <a:endParaRPr lang="en-IN" dirty="0"/>
                    </a:p>
                  </a:txBody>
                  <a:tcPr anchor="ctr"/>
                </a:tc>
                <a:extLst>
                  <a:ext uri="{0D108BD9-81ED-4DB2-BD59-A6C34878D82A}">
                    <a16:rowId xmlns:a16="http://schemas.microsoft.com/office/drawing/2014/main" val="3957503498"/>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SET</a:t>
                      </a:r>
                      <a:endParaRPr lang="en-IN" dirty="0"/>
                    </a:p>
                  </a:txBody>
                  <a:tcPr anchor="ctr"/>
                </a:tc>
                <a:tc>
                  <a:txBody>
                    <a:bodyPr/>
                    <a:lstStyle/>
                    <a:p>
                      <a:r>
                        <a:rPr lang="en-IN" sz="1800" b="0" i="0" kern="1200" dirty="0">
                          <a:solidFill>
                            <a:schemeClr val="dk1"/>
                          </a:solidFill>
                          <a:effectLst/>
                          <a:latin typeface="+mn-lt"/>
                          <a:ea typeface="+mn-ea"/>
                          <a:cs typeface="+mn-cs"/>
                        </a:rPr>
                        <a:t>The </a:t>
                      </a:r>
                      <a:r>
                        <a:rPr lang="en-IN" dirty="0"/>
                        <a:t>SET</a:t>
                      </a:r>
                      <a:r>
                        <a:rPr lang="en-IN" sz="1800" b="0" i="0" kern="1200" dirty="0">
                          <a:solidFill>
                            <a:schemeClr val="dk1"/>
                          </a:solidFill>
                          <a:effectLst/>
                          <a:latin typeface="+mn-lt"/>
                          <a:ea typeface="+mn-ea"/>
                          <a:cs typeface="+mn-cs"/>
                        </a:rPr>
                        <a:t> data type is used to store a set of values chosen from a predefined list of possible values. If you try to insert a value not present in the defined set, MySQL will store an empty set (</a:t>
                      </a:r>
                      <a:r>
                        <a:rPr lang="en-IN" dirty="0"/>
                        <a:t>''</a:t>
                      </a:r>
                      <a:r>
                        <a:rPr lang="en-IN" sz="1800" b="0" i="0" kern="1200" dirty="0">
                          <a:solidFill>
                            <a:schemeClr val="dk1"/>
                          </a:solidFill>
                          <a:effectLst/>
                          <a:latin typeface="+mn-lt"/>
                          <a:ea typeface="+mn-ea"/>
                          <a:cs typeface="+mn-cs"/>
                        </a:rPr>
                        <a:t>) or ignore the invalid value, depending on the SQL mode.</a:t>
                      </a:r>
                      <a:endParaRPr lang="en-IN" dirty="0"/>
                    </a:p>
                  </a:txBody>
                  <a:tcPr anchor="ctr"/>
                </a:tc>
                <a:extLst>
                  <a:ext uri="{0D108BD9-81ED-4DB2-BD59-A6C34878D82A}">
                    <a16:rowId xmlns:a16="http://schemas.microsoft.com/office/drawing/2014/main" val="1757341273"/>
                  </a:ext>
                </a:extLst>
              </a:tr>
            </a:tbl>
          </a:graphicData>
        </a:graphic>
      </p:graphicFrame>
    </p:spTree>
    <p:extLst>
      <p:ext uri="{BB962C8B-B14F-4D97-AF65-F5344CB8AC3E}">
        <p14:creationId xmlns:p14="http://schemas.microsoft.com/office/powerpoint/2010/main" val="2094454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335C-FFF2-45E8-AF70-57B904527A42}"/>
              </a:ext>
            </a:extLst>
          </p:cNvPr>
          <p:cNvSpPr>
            <a:spLocks noGrp="1"/>
          </p:cNvSpPr>
          <p:nvPr>
            <p:ph type="title"/>
          </p:nvPr>
        </p:nvSpPr>
        <p:spPr>
          <a:xfrm>
            <a:off x="838200" y="88219"/>
            <a:ext cx="10515600" cy="592818"/>
          </a:xfrm>
        </p:spPr>
        <p:txBody>
          <a:bodyPr>
            <a:normAutofit/>
          </a:bodyPr>
          <a:lstStyle/>
          <a:p>
            <a:pPr algn="ctr"/>
            <a:r>
              <a:rPr lang="en-IN" sz="3200" b="1" i="0" kern="1200" dirty="0">
                <a:solidFill>
                  <a:schemeClr val="dk1"/>
                </a:solidFill>
                <a:effectLst/>
                <a:latin typeface="+mn-lt"/>
                <a:ea typeface="+mn-ea"/>
                <a:cs typeface="+mn-cs"/>
              </a:rPr>
              <a:t>ENUM data type Syntax &amp; Example</a:t>
            </a:r>
            <a:endParaRPr lang="en-IN" sz="3200" dirty="0"/>
          </a:p>
        </p:txBody>
      </p:sp>
      <p:sp>
        <p:nvSpPr>
          <p:cNvPr id="3" name="Content Placeholder 2">
            <a:extLst>
              <a:ext uri="{FF2B5EF4-FFF2-40B4-BE49-F238E27FC236}">
                <a16:creationId xmlns:a16="http://schemas.microsoft.com/office/drawing/2014/main" id="{5C3916DE-C42C-1AE8-E5E2-1C3C93B4B885}"/>
              </a:ext>
            </a:extLst>
          </p:cNvPr>
          <p:cNvSpPr>
            <a:spLocks noGrp="1"/>
          </p:cNvSpPr>
          <p:nvPr>
            <p:ph idx="1"/>
          </p:nvPr>
        </p:nvSpPr>
        <p:spPr>
          <a:xfrm>
            <a:off x="362857" y="882196"/>
            <a:ext cx="11379200" cy="5887585"/>
          </a:xfrm>
        </p:spPr>
        <p:txBody>
          <a:bodyPr>
            <a:normAutofit fontScale="92500" lnSpcReduction="10000"/>
          </a:bodyPr>
          <a:lstStyle/>
          <a:p>
            <a:pPr marL="0" indent="0">
              <a:buNone/>
            </a:pPr>
            <a:r>
              <a:rPr lang="en-IN" sz="2000" b="1" dirty="0"/>
              <a:t>Syntax: </a:t>
            </a:r>
            <a:r>
              <a:rPr lang="en-IN" sz="2000" dirty="0" err="1">
                <a:solidFill>
                  <a:srgbClr val="7030A0"/>
                </a:solidFill>
              </a:rPr>
              <a:t>column_name</a:t>
            </a:r>
            <a:r>
              <a:rPr lang="en-IN" sz="2000" dirty="0">
                <a:solidFill>
                  <a:srgbClr val="7030A0"/>
                </a:solidFill>
              </a:rPr>
              <a:t> </a:t>
            </a:r>
            <a:r>
              <a:rPr lang="en-IN" sz="2000" dirty="0"/>
              <a:t>ENUM('</a:t>
            </a:r>
            <a:r>
              <a:rPr lang="en-IN" sz="2000" dirty="0">
                <a:solidFill>
                  <a:schemeClr val="accent6">
                    <a:lumMod val="75000"/>
                  </a:schemeClr>
                </a:solidFill>
              </a:rPr>
              <a:t>value1</a:t>
            </a:r>
            <a:r>
              <a:rPr lang="en-IN" sz="2000" dirty="0"/>
              <a:t>', '</a:t>
            </a:r>
            <a:r>
              <a:rPr lang="en-IN" sz="2000" dirty="0">
                <a:solidFill>
                  <a:schemeClr val="accent6">
                    <a:lumMod val="75000"/>
                  </a:schemeClr>
                </a:solidFill>
              </a:rPr>
              <a:t>value2</a:t>
            </a:r>
            <a:r>
              <a:rPr lang="en-IN" sz="2000" dirty="0"/>
              <a:t>', ..., '</a:t>
            </a:r>
            <a:r>
              <a:rPr lang="en-IN" sz="2000" dirty="0" err="1">
                <a:solidFill>
                  <a:schemeClr val="accent6">
                    <a:lumMod val="75000"/>
                  </a:schemeClr>
                </a:solidFill>
              </a:rPr>
              <a:t>valueN</a:t>
            </a:r>
            <a:r>
              <a:rPr lang="en-IN" sz="2000" dirty="0"/>
              <a:t>’);</a:t>
            </a:r>
          </a:p>
          <a:p>
            <a:pPr marL="0" indent="0">
              <a:buNone/>
            </a:pPr>
            <a:r>
              <a:rPr lang="en-IN" sz="2000" dirty="0"/>
              <a:t>Example:      </a:t>
            </a:r>
            <a:r>
              <a:rPr lang="en-IN" sz="2000" b="0" i="0" dirty="0">
                <a:solidFill>
                  <a:srgbClr val="2E95D3"/>
                </a:solidFill>
                <a:effectLst/>
                <a:latin typeface="Söhne Mono"/>
              </a:rPr>
              <a:t>CREATE</a:t>
            </a:r>
            <a:r>
              <a:rPr lang="en-IN" sz="2000" b="0" i="0" dirty="0">
                <a:solidFill>
                  <a:srgbClr val="FFFFFF"/>
                </a:solidFill>
                <a:effectLst/>
                <a:latin typeface="Söhne Mono"/>
              </a:rPr>
              <a:t> </a:t>
            </a:r>
            <a:r>
              <a:rPr lang="en-IN" sz="2000" b="0" i="0" dirty="0">
                <a:solidFill>
                  <a:srgbClr val="2E95D3"/>
                </a:solidFill>
                <a:effectLst/>
                <a:latin typeface="Söhne Mono"/>
              </a:rPr>
              <a:t>TABLE</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a:t>
            </a:r>
          </a:p>
          <a:p>
            <a:pPr marL="0" indent="0">
              <a:buNone/>
            </a:pPr>
            <a:r>
              <a:rPr lang="en-IN" sz="2000" dirty="0">
                <a:latin typeface="Söhne Mono"/>
              </a:rPr>
              <a:t>		 </a:t>
            </a:r>
            <a:r>
              <a:rPr lang="en-IN" sz="2000" b="0" i="0" dirty="0">
                <a:effectLst/>
                <a:latin typeface="Söhne Mono"/>
              </a:rPr>
              <a:t> id </a:t>
            </a:r>
            <a:r>
              <a:rPr lang="en-IN" sz="2000" b="0" i="0" dirty="0">
                <a:solidFill>
                  <a:srgbClr val="DF3079"/>
                </a:solidFill>
                <a:effectLst/>
                <a:latin typeface="Söhne Mono"/>
              </a:rPr>
              <a:t>INT</a:t>
            </a:r>
            <a:r>
              <a:rPr lang="en-IN" sz="2000" b="0" i="0" dirty="0">
                <a:effectLst/>
                <a:latin typeface="Söhne Mono"/>
              </a:rPr>
              <a:t>,</a:t>
            </a:r>
          </a:p>
          <a:p>
            <a:pPr marL="0" indent="0">
              <a:buNone/>
            </a:pPr>
            <a:r>
              <a:rPr lang="en-IN" sz="2000" dirty="0">
                <a:latin typeface="Söhne Mono"/>
              </a:rPr>
              <a:t> 		</a:t>
            </a:r>
            <a:r>
              <a:rPr lang="en-IN" sz="2000" b="0" i="0" dirty="0">
                <a:effectLst/>
                <a:latin typeface="Söhne Mono"/>
              </a:rPr>
              <a:t> status ENUM(</a:t>
            </a:r>
            <a:r>
              <a:rPr lang="en-IN" sz="2000" b="0" i="0" dirty="0">
                <a:solidFill>
                  <a:srgbClr val="00A67D"/>
                </a:solidFill>
                <a:effectLst/>
                <a:latin typeface="Söhne Mono"/>
              </a:rPr>
              <a:t>'active'</a:t>
            </a:r>
            <a:r>
              <a:rPr lang="en-IN" sz="2000" b="0" i="0" dirty="0">
                <a:solidFill>
                  <a:srgbClr val="FFFFFF"/>
                </a:solidFill>
                <a:effectLst/>
                <a:latin typeface="Söhne Mono"/>
              </a:rPr>
              <a:t>, </a:t>
            </a:r>
            <a:r>
              <a:rPr lang="en-IN" sz="2000" b="0" i="0" dirty="0">
                <a:solidFill>
                  <a:srgbClr val="00A67D"/>
                </a:solidFill>
                <a:effectLst/>
                <a:latin typeface="Söhne Mono"/>
              </a:rPr>
              <a:t>'inactive'</a:t>
            </a:r>
            <a:r>
              <a:rPr lang="en-IN" sz="2000" b="0" i="0" dirty="0">
                <a:solidFill>
                  <a:srgbClr val="FFFFFF"/>
                </a:solidFill>
                <a:effectLst/>
                <a:latin typeface="Söhne Mono"/>
              </a:rPr>
              <a:t>, </a:t>
            </a:r>
            <a:r>
              <a:rPr lang="en-IN" sz="2000" b="0" i="0" dirty="0">
                <a:solidFill>
                  <a:srgbClr val="00A67D"/>
                </a:solidFill>
                <a:effectLst/>
                <a:latin typeface="Söhne Mono"/>
              </a:rPr>
              <a:t>'pending’</a:t>
            </a:r>
            <a:r>
              <a:rPr lang="en-IN" sz="2000" b="0" i="0" dirty="0">
                <a:effectLst/>
                <a:latin typeface="Söhne Mono"/>
              </a:rPr>
              <a:t>) </a:t>
            </a:r>
          </a:p>
          <a:p>
            <a:pPr marL="0" indent="0">
              <a:buNone/>
            </a:pPr>
            <a:r>
              <a:rPr lang="en-IN" sz="2000" b="0" i="0" dirty="0">
                <a:effectLst/>
                <a:latin typeface="Söhne Mono"/>
              </a:rPr>
              <a:t>	       );</a:t>
            </a:r>
            <a:endParaRPr lang="en-IN" sz="2000" dirty="0">
              <a:latin typeface="Söhne Mono"/>
            </a:endParaRPr>
          </a:p>
          <a:p>
            <a:pPr marL="0" indent="0">
              <a:buNone/>
            </a:pPr>
            <a:r>
              <a:rPr lang="en-IN" sz="2000" b="0" i="0" dirty="0">
                <a:solidFill>
                  <a:schemeClr val="bg1">
                    <a:lumMod val="50000"/>
                  </a:schemeClr>
                </a:solidFill>
                <a:effectLst/>
                <a:latin typeface="Söhne Mono"/>
              </a:rPr>
              <a:t>// Inserting a row with a valid ENUM value </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effectLst/>
                <a:latin typeface="Söhne Mono"/>
              </a:rPr>
              <a:t> (</a:t>
            </a:r>
            <a:r>
              <a:rPr lang="en-IN" sz="2000" b="0" i="0" dirty="0">
                <a:solidFill>
                  <a:srgbClr val="DF3079"/>
                </a:solidFill>
                <a:effectLst/>
                <a:latin typeface="Söhne Mono"/>
              </a:rPr>
              <a:t>1</a:t>
            </a:r>
            <a:r>
              <a:rPr lang="en-IN" sz="2000" b="0" i="0" dirty="0">
                <a:effectLst/>
                <a:latin typeface="Söhne Mono"/>
              </a:rPr>
              <a:t>, </a:t>
            </a:r>
            <a:r>
              <a:rPr lang="en-IN" sz="2000" b="0" i="0" dirty="0">
                <a:solidFill>
                  <a:srgbClr val="00A67D"/>
                </a:solidFill>
                <a:effectLst/>
                <a:latin typeface="Söhne Mono"/>
              </a:rPr>
              <a:t>'active’</a:t>
            </a:r>
            <a:r>
              <a:rPr lang="en-IN" sz="2000" b="0" i="0" dirty="0">
                <a:effectLst/>
                <a:latin typeface="Söhne Mono"/>
              </a:rPr>
              <a:t>); Or</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effectLst/>
                <a:latin typeface="Söhne Mono"/>
              </a:rPr>
              <a:t> (</a:t>
            </a:r>
            <a:r>
              <a:rPr lang="en-IN" sz="2000" b="0" i="0" dirty="0">
                <a:solidFill>
                  <a:srgbClr val="DF3079"/>
                </a:solidFill>
                <a:effectLst/>
                <a:latin typeface="Söhne Mono"/>
              </a:rPr>
              <a:t>1</a:t>
            </a:r>
            <a:r>
              <a:rPr lang="en-IN" sz="2000" dirty="0">
                <a:latin typeface="Söhne Mono"/>
              </a:rPr>
              <a:t>,</a:t>
            </a:r>
            <a:r>
              <a:rPr lang="en-IN" sz="2000" dirty="0">
                <a:solidFill>
                  <a:srgbClr val="FFFFFF"/>
                </a:solidFill>
                <a:latin typeface="Söhne Mono"/>
              </a:rPr>
              <a:t> </a:t>
            </a:r>
            <a:r>
              <a:rPr lang="en-IN" sz="2000" dirty="0">
                <a:solidFill>
                  <a:srgbClr val="FF0000"/>
                </a:solidFill>
                <a:latin typeface="Söhne Mono"/>
              </a:rPr>
              <a:t>1</a:t>
            </a:r>
            <a:r>
              <a:rPr lang="en-IN" sz="2000" b="0" i="0" dirty="0">
                <a:effectLst/>
                <a:latin typeface="Söhne Mono"/>
              </a:rPr>
              <a:t>);   </a:t>
            </a:r>
            <a:r>
              <a:rPr lang="en-IN" sz="2000" dirty="0">
                <a:solidFill>
                  <a:schemeClr val="tx2">
                    <a:lumMod val="75000"/>
                  </a:schemeClr>
                </a:solidFill>
                <a:latin typeface="Söhne Mono"/>
              </a:rPr>
              <a:t>// You can select enum values by index</a:t>
            </a:r>
            <a:r>
              <a:rPr lang="en-IN" sz="2000" b="0" i="0" dirty="0">
                <a:effectLst/>
                <a:latin typeface="Söhne Mono"/>
              </a:rPr>
              <a:t> </a:t>
            </a:r>
            <a:endParaRPr lang="en-IN" sz="2000" b="0" i="0" dirty="0">
              <a:solidFill>
                <a:schemeClr val="tx2">
                  <a:lumMod val="75000"/>
                </a:schemeClr>
              </a:solidFill>
              <a:effectLst/>
              <a:latin typeface="Söhne Mono"/>
            </a:endParaRP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effectLst/>
                <a:latin typeface="Söhne Mono"/>
              </a:rPr>
              <a:t> (</a:t>
            </a:r>
            <a:r>
              <a:rPr lang="en-IN" sz="2000" b="0" i="0" dirty="0">
                <a:solidFill>
                  <a:srgbClr val="DF3079"/>
                </a:solidFill>
                <a:effectLst/>
                <a:latin typeface="Söhne Mono"/>
              </a:rPr>
              <a:t>1</a:t>
            </a:r>
            <a:r>
              <a:rPr lang="en-IN" sz="2000" dirty="0">
                <a:latin typeface="Söhne Mono"/>
              </a:rPr>
              <a:t>,</a:t>
            </a:r>
            <a:r>
              <a:rPr lang="en-IN" sz="2000" dirty="0">
                <a:solidFill>
                  <a:srgbClr val="FFFFFF"/>
                </a:solidFill>
                <a:latin typeface="Söhne Mono"/>
              </a:rPr>
              <a:t> </a:t>
            </a:r>
            <a:r>
              <a:rPr lang="en-IN" sz="2000" dirty="0">
                <a:solidFill>
                  <a:srgbClr val="FF0000"/>
                </a:solidFill>
                <a:latin typeface="Söhne Mono"/>
              </a:rPr>
              <a:t>NULL</a:t>
            </a:r>
            <a:r>
              <a:rPr lang="en-IN" sz="2000" b="0" i="0" dirty="0">
                <a:effectLst/>
                <a:latin typeface="Söhne Mono"/>
              </a:rPr>
              <a:t>);   </a:t>
            </a:r>
            <a:r>
              <a:rPr lang="en-IN" sz="2000" b="0" i="0" dirty="0">
                <a:solidFill>
                  <a:schemeClr val="tx2">
                    <a:lumMod val="75000"/>
                  </a:schemeClr>
                </a:solidFill>
                <a:effectLst/>
                <a:latin typeface="Söhne Mono"/>
              </a:rPr>
              <a:t>// If you don’t apply NOT NULL constraint</a:t>
            </a:r>
          </a:p>
          <a:p>
            <a:pPr marL="0" indent="0">
              <a:buNone/>
            </a:pPr>
            <a:endParaRPr lang="en-IN" sz="2000" b="0" i="0" dirty="0">
              <a:solidFill>
                <a:schemeClr val="tx2">
                  <a:lumMod val="75000"/>
                </a:schemeClr>
              </a:solidFill>
              <a:effectLst/>
              <a:latin typeface="Söhne Mono"/>
            </a:endParaRPr>
          </a:p>
          <a:p>
            <a:pPr marL="0" indent="0">
              <a:buNone/>
            </a:pPr>
            <a:r>
              <a:rPr lang="en-IN" sz="2000" b="0" i="0" dirty="0">
                <a:solidFill>
                  <a:schemeClr val="bg1">
                    <a:lumMod val="65000"/>
                  </a:schemeClr>
                </a:solidFill>
                <a:effectLst/>
                <a:latin typeface="Söhne Mono"/>
              </a:rPr>
              <a:t> </a:t>
            </a:r>
            <a:r>
              <a:rPr lang="en-IN" sz="2000" b="0" i="0" dirty="0">
                <a:solidFill>
                  <a:schemeClr val="bg1">
                    <a:lumMod val="50000"/>
                  </a:schemeClr>
                </a:solidFill>
                <a:effectLst/>
                <a:latin typeface="Söhne Mono"/>
              </a:rPr>
              <a:t>-- Attempting to insert a row with an invalid ENUM value – </a:t>
            </a:r>
          </a:p>
          <a:p>
            <a:pPr marL="0" indent="0">
              <a:buNone/>
            </a:pPr>
            <a:r>
              <a:rPr lang="en-IN" sz="2000" b="0" i="0" dirty="0">
                <a:solidFill>
                  <a:schemeClr val="bg1">
                    <a:lumMod val="50000"/>
                  </a:schemeClr>
                </a:solidFill>
                <a:effectLst/>
                <a:latin typeface="Söhne Mono"/>
              </a:rPr>
              <a:t>This would result in an error </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solidFill>
                  <a:srgbClr val="FFFFFF"/>
                </a:solidFill>
                <a:effectLst/>
                <a:latin typeface="Söhne Mono"/>
              </a:rPr>
              <a:t> </a:t>
            </a:r>
            <a:r>
              <a:rPr lang="en-IN" sz="2000" b="0" i="0" dirty="0">
                <a:effectLst/>
                <a:latin typeface="Söhne Mono"/>
              </a:rPr>
              <a:t>(</a:t>
            </a:r>
            <a:r>
              <a:rPr lang="en-IN" sz="2000" b="0" i="0" dirty="0">
                <a:solidFill>
                  <a:srgbClr val="DF3079"/>
                </a:solidFill>
                <a:effectLst/>
                <a:latin typeface="Söhne Mono"/>
              </a:rPr>
              <a:t>2</a:t>
            </a:r>
            <a:r>
              <a:rPr lang="en-IN" sz="2000" b="0" i="0" dirty="0">
                <a:effectLst/>
                <a:latin typeface="Söhne Mono"/>
              </a:rPr>
              <a:t>, </a:t>
            </a:r>
            <a:r>
              <a:rPr lang="en-IN" sz="2000" b="0" i="0" dirty="0">
                <a:solidFill>
                  <a:srgbClr val="00A67D"/>
                </a:solidFill>
                <a:effectLst/>
                <a:latin typeface="Söhne Mono"/>
              </a:rPr>
              <a:t>'archived’</a:t>
            </a:r>
            <a:r>
              <a:rPr lang="en-IN" sz="2000" b="0" i="0" dirty="0">
                <a:effectLst/>
                <a:latin typeface="Söhne Mono"/>
              </a:rPr>
              <a:t>);</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effectLst/>
                <a:latin typeface="Söhne Mono"/>
              </a:rPr>
              <a:t> (</a:t>
            </a:r>
            <a:r>
              <a:rPr lang="en-IN" sz="2000" dirty="0">
                <a:solidFill>
                  <a:srgbClr val="DF3079"/>
                </a:solidFill>
                <a:latin typeface="Söhne Mono"/>
              </a:rPr>
              <a:t>3</a:t>
            </a:r>
            <a:r>
              <a:rPr lang="en-IN" sz="2000" b="0" i="0" dirty="0">
                <a:effectLst/>
                <a:latin typeface="Söhne Mono"/>
              </a:rPr>
              <a:t>, </a:t>
            </a:r>
            <a:r>
              <a:rPr lang="en-IN" sz="2000" b="0" i="0" dirty="0">
                <a:solidFill>
                  <a:srgbClr val="00A67D"/>
                </a:solidFill>
                <a:effectLst/>
                <a:latin typeface="Söhne Mono"/>
              </a:rPr>
              <a:t>'</a:t>
            </a:r>
            <a:r>
              <a:rPr lang="en-IN" sz="2000" b="0" i="0" dirty="0" err="1">
                <a:solidFill>
                  <a:srgbClr val="00A67D"/>
                </a:solidFill>
                <a:effectLst/>
                <a:latin typeface="Söhne Mono"/>
              </a:rPr>
              <a:t>active,inactive</a:t>
            </a:r>
            <a:r>
              <a:rPr lang="en-IN" sz="2000" b="0" i="0" dirty="0">
                <a:solidFill>
                  <a:srgbClr val="00A67D"/>
                </a:solidFill>
                <a:effectLst/>
                <a:latin typeface="Söhne Mono"/>
              </a:rPr>
              <a:t>’</a:t>
            </a:r>
            <a:r>
              <a:rPr lang="en-IN" sz="2000" b="0" i="0" dirty="0">
                <a:effectLst/>
                <a:latin typeface="Söhne Mono"/>
              </a:rPr>
              <a:t>);  </a:t>
            </a:r>
            <a:r>
              <a:rPr lang="en-IN" sz="2000" b="0" i="0" dirty="0">
                <a:solidFill>
                  <a:schemeClr val="tx2">
                    <a:lumMod val="75000"/>
                  </a:schemeClr>
                </a:solidFill>
                <a:effectLst/>
                <a:latin typeface="Söhne Mono"/>
              </a:rPr>
              <a:t>// You can’t select multiple values</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solidFill>
                  <a:srgbClr val="FFFFFF"/>
                </a:solidFill>
                <a:effectLst/>
                <a:latin typeface="Söhne Mono"/>
              </a:rPr>
              <a:t> </a:t>
            </a:r>
            <a:r>
              <a:rPr lang="en-IN" sz="2000" b="0" i="0" dirty="0">
                <a:effectLst/>
                <a:latin typeface="Söhne Mono"/>
              </a:rPr>
              <a:t>(</a:t>
            </a:r>
            <a:r>
              <a:rPr lang="en-IN" sz="2000" dirty="0">
                <a:solidFill>
                  <a:srgbClr val="DF3079"/>
                </a:solidFill>
                <a:latin typeface="Söhne Mono"/>
              </a:rPr>
              <a:t>4</a:t>
            </a:r>
            <a:r>
              <a:rPr lang="en-IN" sz="2000" b="0" i="0" dirty="0">
                <a:effectLst/>
                <a:latin typeface="Söhne Mono"/>
              </a:rPr>
              <a:t>, </a:t>
            </a:r>
            <a:r>
              <a:rPr lang="en-IN" sz="2000" b="0" i="0" dirty="0">
                <a:solidFill>
                  <a:srgbClr val="00A67D"/>
                </a:solidFill>
                <a:effectLst/>
                <a:latin typeface="Söhne Mono"/>
              </a:rPr>
              <a:t>‘ ’</a:t>
            </a:r>
            <a:r>
              <a:rPr lang="en-IN" sz="2000" b="0" i="0" dirty="0">
                <a:effectLst/>
                <a:latin typeface="Söhne Mono"/>
              </a:rPr>
              <a:t>);</a:t>
            </a:r>
            <a:r>
              <a:rPr lang="en-IN" sz="2000" b="0" i="0" dirty="0">
                <a:solidFill>
                  <a:schemeClr val="tx2">
                    <a:lumMod val="75000"/>
                  </a:schemeClr>
                </a:solidFill>
                <a:effectLst/>
                <a:latin typeface="Söhne Mono"/>
              </a:rPr>
              <a:t>   // Error</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Söhne Mono"/>
              </a:rPr>
              <a:t>example_enum</a:t>
            </a:r>
            <a:r>
              <a:rPr lang="en-IN" sz="2000" b="0" i="0" dirty="0">
                <a:effectLst/>
                <a:latin typeface="Söhne Mono"/>
              </a:rPr>
              <a:t> (id, status) </a:t>
            </a:r>
            <a:r>
              <a:rPr lang="en-IN" sz="2000" b="0" i="0" dirty="0">
                <a:solidFill>
                  <a:srgbClr val="2E95D3"/>
                </a:solidFill>
                <a:effectLst/>
                <a:latin typeface="Söhne Mono"/>
              </a:rPr>
              <a:t>VALUES</a:t>
            </a:r>
            <a:r>
              <a:rPr lang="en-IN" sz="2000" b="0" i="0" dirty="0">
                <a:solidFill>
                  <a:srgbClr val="FFFFFF"/>
                </a:solidFill>
                <a:effectLst/>
                <a:latin typeface="Söhne Mono"/>
              </a:rPr>
              <a:t> </a:t>
            </a:r>
            <a:r>
              <a:rPr lang="en-IN" sz="2000" b="0" i="0" dirty="0">
                <a:effectLst/>
                <a:latin typeface="Söhne Mono"/>
              </a:rPr>
              <a:t>(</a:t>
            </a:r>
            <a:r>
              <a:rPr lang="en-IN" sz="2000" dirty="0">
                <a:solidFill>
                  <a:srgbClr val="DF3079"/>
                </a:solidFill>
                <a:latin typeface="Söhne Mono"/>
              </a:rPr>
              <a:t>4</a:t>
            </a:r>
            <a:r>
              <a:rPr lang="en-IN" sz="2000" b="0" i="0" dirty="0">
                <a:effectLst/>
                <a:latin typeface="Söhne Mono"/>
              </a:rPr>
              <a:t>, </a:t>
            </a:r>
            <a:r>
              <a:rPr lang="en-IN" sz="2000" dirty="0">
                <a:solidFill>
                  <a:srgbClr val="FF0000"/>
                </a:solidFill>
                <a:latin typeface="Söhne Mono"/>
              </a:rPr>
              <a:t>0</a:t>
            </a:r>
            <a:r>
              <a:rPr lang="en-IN" sz="2000" b="0" i="0" dirty="0">
                <a:effectLst/>
                <a:latin typeface="Söhne Mono"/>
              </a:rPr>
              <a:t>);</a:t>
            </a:r>
            <a:r>
              <a:rPr lang="en-IN" sz="2000" b="0" i="0" dirty="0">
                <a:solidFill>
                  <a:schemeClr val="tx2">
                    <a:lumMod val="75000"/>
                  </a:schemeClr>
                </a:solidFill>
                <a:effectLst/>
                <a:latin typeface="Söhne Mono"/>
              </a:rPr>
              <a:t>   // Error because ENUM start indexing from 1</a:t>
            </a:r>
            <a:endParaRPr lang="en-IN" sz="2000" b="0" i="0" dirty="0">
              <a:effectLst/>
              <a:latin typeface="Söhne Mono"/>
            </a:endParaRPr>
          </a:p>
          <a:p>
            <a:pPr marL="0" indent="0">
              <a:buNone/>
            </a:pPr>
            <a:endParaRPr lang="en-IN" sz="2000" b="0" i="0" dirty="0">
              <a:effectLst/>
              <a:latin typeface="Söhne Mono"/>
            </a:endParaRPr>
          </a:p>
          <a:p>
            <a:pPr marL="0" indent="0">
              <a:buNone/>
            </a:pPr>
            <a:endParaRPr lang="en-IN" sz="2000" b="0" i="0" dirty="0">
              <a:solidFill>
                <a:schemeClr val="tx2">
                  <a:lumMod val="75000"/>
                </a:schemeClr>
              </a:solidFill>
              <a:effectLst/>
              <a:latin typeface="Söhne Mono"/>
            </a:endParaRPr>
          </a:p>
          <a:p>
            <a:pPr marL="0" indent="0">
              <a:buNone/>
            </a:pPr>
            <a:endParaRPr lang="en-IN" sz="2000" dirty="0"/>
          </a:p>
        </p:txBody>
      </p:sp>
      <p:sp>
        <p:nvSpPr>
          <p:cNvPr id="12" name="TextBox 11">
            <a:extLst>
              <a:ext uri="{FF2B5EF4-FFF2-40B4-BE49-F238E27FC236}">
                <a16:creationId xmlns:a16="http://schemas.microsoft.com/office/drawing/2014/main" id="{918B5C84-94B2-D9A8-439C-22ECEFEBD47B}"/>
              </a:ext>
            </a:extLst>
          </p:cNvPr>
          <p:cNvSpPr txBox="1"/>
          <p:nvPr/>
        </p:nvSpPr>
        <p:spPr>
          <a:xfrm>
            <a:off x="4484915" y="1492992"/>
            <a:ext cx="972456" cy="369332"/>
          </a:xfrm>
          <a:prstGeom prst="rect">
            <a:avLst/>
          </a:prstGeom>
          <a:noFill/>
        </p:spPr>
        <p:txBody>
          <a:bodyPr wrap="square" rtlCol="0">
            <a:spAutoFit/>
          </a:bodyPr>
          <a:lstStyle/>
          <a:p>
            <a:r>
              <a:rPr lang="en-IN" dirty="0">
                <a:solidFill>
                  <a:srgbClr val="FF0000"/>
                </a:solidFill>
              </a:rPr>
              <a:t>Index 1</a:t>
            </a:r>
          </a:p>
        </p:txBody>
      </p:sp>
      <p:sp>
        <p:nvSpPr>
          <p:cNvPr id="13" name="TextBox 12">
            <a:extLst>
              <a:ext uri="{FF2B5EF4-FFF2-40B4-BE49-F238E27FC236}">
                <a16:creationId xmlns:a16="http://schemas.microsoft.com/office/drawing/2014/main" id="{E2A5D8A0-558F-D9EC-36BC-A29C9314E897}"/>
              </a:ext>
            </a:extLst>
          </p:cNvPr>
          <p:cNvSpPr txBox="1"/>
          <p:nvPr/>
        </p:nvSpPr>
        <p:spPr>
          <a:xfrm>
            <a:off x="5072742" y="2443784"/>
            <a:ext cx="972456" cy="369332"/>
          </a:xfrm>
          <a:prstGeom prst="rect">
            <a:avLst/>
          </a:prstGeom>
          <a:noFill/>
        </p:spPr>
        <p:txBody>
          <a:bodyPr wrap="square" rtlCol="0">
            <a:spAutoFit/>
          </a:bodyPr>
          <a:lstStyle/>
          <a:p>
            <a:r>
              <a:rPr lang="en-IN" dirty="0">
                <a:solidFill>
                  <a:srgbClr val="FF0000"/>
                </a:solidFill>
              </a:rPr>
              <a:t>Index 2</a:t>
            </a:r>
          </a:p>
        </p:txBody>
      </p:sp>
      <p:sp>
        <p:nvSpPr>
          <p:cNvPr id="14" name="TextBox 13">
            <a:extLst>
              <a:ext uri="{FF2B5EF4-FFF2-40B4-BE49-F238E27FC236}">
                <a16:creationId xmlns:a16="http://schemas.microsoft.com/office/drawing/2014/main" id="{58B6486A-A760-050D-F0C7-3A844A69F36B}"/>
              </a:ext>
            </a:extLst>
          </p:cNvPr>
          <p:cNvSpPr txBox="1"/>
          <p:nvPr/>
        </p:nvSpPr>
        <p:spPr>
          <a:xfrm>
            <a:off x="6095999" y="1308326"/>
            <a:ext cx="1146629" cy="369332"/>
          </a:xfrm>
          <a:prstGeom prst="rect">
            <a:avLst/>
          </a:prstGeom>
          <a:noFill/>
        </p:spPr>
        <p:txBody>
          <a:bodyPr wrap="square" rtlCol="0">
            <a:spAutoFit/>
          </a:bodyPr>
          <a:lstStyle/>
          <a:p>
            <a:r>
              <a:rPr lang="en-IN" dirty="0">
                <a:solidFill>
                  <a:srgbClr val="FF0000"/>
                </a:solidFill>
              </a:rPr>
              <a:t>Index 3</a:t>
            </a:r>
          </a:p>
        </p:txBody>
      </p:sp>
      <p:cxnSp>
        <p:nvCxnSpPr>
          <p:cNvPr id="16" name="Straight Arrow Connector 15">
            <a:extLst>
              <a:ext uri="{FF2B5EF4-FFF2-40B4-BE49-F238E27FC236}">
                <a16:creationId xmlns:a16="http://schemas.microsoft.com/office/drawing/2014/main" id="{8B84A5FA-31D7-8E6A-6656-0CAE63B4A018}"/>
              </a:ext>
            </a:extLst>
          </p:cNvPr>
          <p:cNvCxnSpPr>
            <a:cxnSpLocks/>
            <a:stCxn id="12" idx="1"/>
          </p:cNvCxnSpPr>
          <p:nvPr/>
        </p:nvCxnSpPr>
        <p:spPr>
          <a:xfrm flipH="1">
            <a:off x="4136571" y="1677658"/>
            <a:ext cx="348344" cy="259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B9CCB54-9A85-062E-33E6-4B6294AD9620}"/>
              </a:ext>
            </a:extLst>
          </p:cNvPr>
          <p:cNvCxnSpPr>
            <a:cxnSpLocks/>
          </p:cNvCxnSpPr>
          <p:nvPr/>
        </p:nvCxnSpPr>
        <p:spPr>
          <a:xfrm flipH="1">
            <a:off x="5907314" y="1677658"/>
            <a:ext cx="333829" cy="259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E206F6E-B7D6-0017-EB25-2F70CF7B48AC}"/>
              </a:ext>
            </a:extLst>
          </p:cNvPr>
          <p:cNvCxnSpPr>
            <a:cxnSpLocks/>
          </p:cNvCxnSpPr>
          <p:nvPr/>
        </p:nvCxnSpPr>
        <p:spPr>
          <a:xfrm flipH="1" flipV="1">
            <a:off x="4920341" y="2220686"/>
            <a:ext cx="290288" cy="223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7076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335C-FFF2-45E8-AF70-57B904527A42}"/>
              </a:ext>
            </a:extLst>
          </p:cNvPr>
          <p:cNvSpPr>
            <a:spLocks noGrp="1"/>
          </p:cNvSpPr>
          <p:nvPr>
            <p:ph type="title"/>
          </p:nvPr>
        </p:nvSpPr>
        <p:spPr>
          <a:xfrm>
            <a:off x="838200" y="88219"/>
            <a:ext cx="10515600" cy="592818"/>
          </a:xfrm>
        </p:spPr>
        <p:txBody>
          <a:bodyPr>
            <a:normAutofit/>
          </a:bodyPr>
          <a:lstStyle/>
          <a:p>
            <a:pPr algn="ctr"/>
            <a:r>
              <a:rPr lang="en-IN" sz="3200" b="1" i="0" kern="1200" dirty="0">
                <a:solidFill>
                  <a:schemeClr val="dk1"/>
                </a:solidFill>
                <a:effectLst/>
                <a:latin typeface="+mn-lt"/>
                <a:ea typeface="+mn-ea"/>
                <a:cs typeface="+mn-cs"/>
              </a:rPr>
              <a:t>Set data type Syntax &amp; Example</a:t>
            </a:r>
            <a:endParaRPr lang="en-IN" sz="3200" dirty="0"/>
          </a:p>
        </p:txBody>
      </p:sp>
      <p:sp>
        <p:nvSpPr>
          <p:cNvPr id="3" name="Content Placeholder 2">
            <a:extLst>
              <a:ext uri="{FF2B5EF4-FFF2-40B4-BE49-F238E27FC236}">
                <a16:creationId xmlns:a16="http://schemas.microsoft.com/office/drawing/2014/main" id="{5C3916DE-C42C-1AE8-E5E2-1C3C93B4B885}"/>
              </a:ext>
            </a:extLst>
          </p:cNvPr>
          <p:cNvSpPr>
            <a:spLocks noGrp="1"/>
          </p:cNvSpPr>
          <p:nvPr>
            <p:ph idx="1"/>
          </p:nvPr>
        </p:nvSpPr>
        <p:spPr>
          <a:xfrm>
            <a:off x="362857" y="681037"/>
            <a:ext cx="11669486" cy="6088743"/>
          </a:xfrm>
        </p:spPr>
        <p:txBody>
          <a:bodyPr>
            <a:normAutofit lnSpcReduction="10000"/>
          </a:bodyPr>
          <a:lstStyle/>
          <a:p>
            <a:pPr marL="0" indent="0">
              <a:buNone/>
            </a:pPr>
            <a:r>
              <a:rPr lang="en-IN" sz="2000" b="1" dirty="0"/>
              <a:t>Syntax: </a:t>
            </a:r>
            <a:r>
              <a:rPr lang="en-IN" sz="2000" dirty="0" err="1">
                <a:solidFill>
                  <a:srgbClr val="7030A0"/>
                </a:solidFill>
              </a:rPr>
              <a:t>column_name</a:t>
            </a:r>
            <a:r>
              <a:rPr lang="en-IN" sz="2000" dirty="0">
                <a:solidFill>
                  <a:srgbClr val="7030A0"/>
                </a:solidFill>
              </a:rPr>
              <a:t> </a:t>
            </a:r>
            <a:r>
              <a:rPr lang="en-IN" sz="2000" dirty="0"/>
              <a:t>SET('</a:t>
            </a:r>
            <a:r>
              <a:rPr lang="en-IN" sz="2000" dirty="0">
                <a:solidFill>
                  <a:schemeClr val="accent6">
                    <a:lumMod val="75000"/>
                  </a:schemeClr>
                </a:solidFill>
              </a:rPr>
              <a:t>value1</a:t>
            </a:r>
            <a:r>
              <a:rPr lang="en-IN" sz="2000" dirty="0"/>
              <a:t>', '</a:t>
            </a:r>
            <a:r>
              <a:rPr lang="en-IN" sz="2000" dirty="0">
                <a:solidFill>
                  <a:schemeClr val="accent6">
                    <a:lumMod val="75000"/>
                  </a:schemeClr>
                </a:solidFill>
              </a:rPr>
              <a:t>value2</a:t>
            </a:r>
            <a:r>
              <a:rPr lang="en-IN" sz="2000" dirty="0"/>
              <a:t>', ..., '</a:t>
            </a:r>
            <a:r>
              <a:rPr lang="en-IN" sz="2000" dirty="0" err="1">
                <a:solidFill>
                  <a:schemeClr val="accent6">
                    <a:lumMod val="75000"/>
                  </a:schemeClr>
                </a:solidFill>
              </a:rPr>
              <a:t>valueN</a:t>
            </a:r>
            <a:r>
              <a:rPr lang="en-IN" sz="2000" dirty="0"/>
              <a:t>’);</a:t>
            </a:r>
          </a:p>
          <a:p>
            <a:pPr marL="0" indent="0">
              <a:buNone/>
            </a:pPr>
            <a:r>
              <a:rPr lang="en-IN" sz="2000" dirty="0"/>
              <a:t>Example:      </a:t>
            </a:r>
            <a:r>
              <a:rPr lang="en-IN" sz="2000" b="0" i="0" dirty="0">
                <a:solidFill>
                  <a:srgbClr val="2E95D3"/>
                </a:solidFill>
                <a:effectLst/>
                <a:latin typeface="Söhne Mono"/>
              </a:rPr>
              <a:t>CREATE</a:t>
            </a:r>
            <a:r>
              <a:rPr lang="en-IN" sz="2000" b="0" i="0" dirty="0">
                <a:solidFill>
                  <a:srgbClr val="FFFFFF"/>
                </a:solidFill>
                <a:effectLst/>
                <a:latin typeface="Söhne Mono"/>
              </a:rPr>
              <a:t> </a:t>
            </a:r>
            <a:r>
              <a:rPr lang="en-IN" sz="2000" b="0" i="0" dirty="0">
                <a:solidFill>
                  <a:srgbClr val="2E95D3"/>
                </a:solidFill>
                <a:effectLst/>
                <a:latin typeface="Söhne Mono"/>
              </a:rPr>
              <a:t>TABLE</a:t>
            </a:r>
            <a:r>
              <a:rPr lang="en-IN" sz="20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2000" b="0" i="0" dirty="0">
                <a:effectLst/>
                <a:latin typeface="Söhne Mono"/>
              </a:rPr>
              <a:t>(</a:t>
            </a:r>
          </a:p>
          <a:p>
            <a:pPr marL="0" indent="0">
              <a:buNone/>
            </a:pPr>
            <a:r>
              <a:rPr lang="en-IN" sz="2000" dirty="0">
                <a:latin typeface="Söhne Mono"/>
              </a:rPr>
              <a:t>		 </a:t>
            </a:r>
            <a:r>
              <a:rPr lang="en-IN" sz="2000" b="0" i="0" dirty="0">
                <a:effectLst/>
                <a:latin typeface="Söhne Mono"/>
              </a:rPr>
              <a:t> id </a:t>
            </a:r>
            <a:r>
              <a:rPr lang="en-IN" sz="2000" b="0" i="0" dirty="0">
                <a:solidFill>
                  <a:srgbClr val="DF3079"/>
                </a:solidFill>
                <a:effectLst/>
                <a:latin typeface="Söhne Mono"/>
              </a:rPr>
              <a:t>INT</a:t>
            </a:r>
            <a:r>
              <a:rPr lang="en-IN" sz="2000" b="0" i="0" dirty="0">
                <a:effectLst/>
                <a:latin typeface="Söhne Mono"/>
              </a:rPr>
              <a:t>,</a:t>
            </a:r>
          </a:p>
          <a:p>
            <a:pPr marL="0" indent="0">
              <a:buNone/>
            </a:pPr>
            <a:r>
              <a:rPr lang="en-IN" sz="2000" dirty="0">
                <a:latin typeface="Söhne Mono"/>
              </a:rPr>
              <a:t> 		</a:t>
            </a:r>
            <a:r>
              <a:rPr lang="en-IN" sz="2000" b="0" i="0" dirty="0">
                <a:effectLst/>
                <a:latin typeface="Söhne Mono"/>
              </a:rPr>
              <a:t> skills SET('</a:t>
            </a:r>
            <a:r>
              <a:rPr lang="en-IN" sz="2000" b="0" i="0" dirty="0">
                <a:solidFill>
                  <a:schemeClr val="accent6">
                    <a:lumMod val="75000"/>
                  </a:schemeClr>
                </a:solidFill>
                <a:effectLst/>
                <a:latin typeface="Söhne Mono"/>
              </a:rPr>
              <a:t>Programming</a:t>
            </a:r>
            <a:r>
              <a:rPr lang="en-IN" sz="2000" b="0" i="0" dirty="0">
                <a:effectLst/>
                <a:latin typeface="Söhne Mono"/>
              </a:rPr>
              <a:t>', '</a:t>
            </a:r>
            <a:r>
              <a:rPr lang="en-IN" sz="2000" b="0" i="0" dirty="0">
                <a:solidFill>
                  <a:schemeClr val="accent6">
                    <a:lumMod val="75000"/>
                  </a:schemeClr>
                </a:solidFill>
                <a:effectLst/>
                <a:latin typeface="Söhne Mono"/>
              </a:rPr>
              <a:t>Database</a:t>
            </a:r>
            <a:r>
              <a:rPr lang="en-IN" sz="2000" b="0" i="0" dirty="0">
                <a:effectLst/>
                <a:latin typeface="Söhne Mono"/>
              </a:rPr>
              <a:t>', '</a:t>
            </a:r>
            <a:r>
              <a:rPr lang="en-IN" sz="2000" b="0" i="0" dirty="0">
                <a:solidFill>
                  <a:schemeClr val="accent6">
                    <a:lumMod val="75000"/>
                  </a:schemeClr>
                </a:solidFill>
                <a:effectLst/>
                <a:latin typeface="Söhne Mono"/>
              </a:rPr>
              <a:t>Networking</a:t>
            </a:r>
            <a:r>
              <a:rPr lang="en-IN" sz="2000" b="0" i="0" dirty="0">
                <a:effectLst/>
                <a:latin typeface="Söhne Mono"/>
              </a:rPr>
              <a:t>', '</a:t>
            </a:r>
            <a:r>
              <a:rPr lang="en-IN" sz="2000" b="0" i="0" dirty="0">
                <a:solidFill>
                  <a:schemeClr val="accent6">
                    <a:lumMod val="75000"/>
                  </a:schemeClr>
                </a:solidFill>
                <a:effectLst/>
                <a:latin typeface="Söhne Mono"/>
              </a:rPr>
              <a:t>Design</a:t>
            </a:r>
            <a:r>
              <a:rPr lang="en-IN" sz="2000" b="0" i="0" dirty="0">
                <a:effectLst/>
                <a:latin typeface="Söhne Mono"/>
              </a:rPr>
              <a:t>')</a:t>
            </a:r>
          </a:p>
          <a:p>
            <a:pPr marL="0" indent="0">
              <a:buNone/>
            </a:pPr>
            <a:r>
              <a:rPr lang="en-IN" sz="2000" b="0" i="0" dirty="0">
                <a:effectLst/>
                <a:latin typeface="Söhne Mono"/>
              </a:rPr>
              <a:t>	       );</a:t>
            </a:r>
            <a:endParaRPr lang="en-IN" sz="2000" dirty="0">
              <a:latin typeface="Söhne Mono"/>
            </a:endParaRPr>
          </a:p>
          <a:p>
            <a:pPr marL="0" indent="0">
              <a:buNone/>
            </a:pPr>
            <a:r>
              <a:rPr lang="en-IN" sz="2000" b="0" i="0" dirty="0">
                <a:solidFill>
                  <a:schemeClr val="bg1">
                    <a:lumMod val="50000"/>
                  </a:schemeClr>
                </a:solidFill>
                <a:effectLst/>
                <a:latin typeface="Söhne Mono"/>
              </a:rPr>
              <a:t>// Inserting a row with a valid ENUM value </a:t>
            </a:r>
          </a:p>
          <a:p>
            <a:pPr marL="0" indent="0">
              <a:buNone/>
            </a:pP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b="0" i="0" dirty="0">
                <a:effectLst/>
                <a:latin typeface="Söhne Mono"/>
              </a:rPr>
              <a:t>, </a:t>
            </a:r>
            <a:r>
              <a:rPr lang="en-IN" sz="1800" b="0" i="0" dirty="0">
                <a:solidFill>
                  <a:srgbClr val="00A67D"/>
                </a:solidFill>
                <a:effectLst/>
                <a:latin typeface="Söhne Mono"/>
              </a:rPr>
              <a:t>‘Programming’</a:t>
            </a:r>
            <a:r>
              <a:rPr lang="en-IN" sz="1800" b="0" i="0" dirty="0">
                <a:effectLst/>
                <a:latin typeface="Söhne Mono"/>
              </a:rPr>
              <a:t>); Or</a:t>
            </a:r>
          </a:p>
          <a:p>
            <a:pPr marL="0" indent="0">
              <a:buNone/>
            </a:pP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dirty="0">
                <a:latin typeface="Söhne Mono"/>
              </a:rPr>
              <a:t>,</a:t>
            </a:r>
            <a:r>
              <a:rPr lang="en-IN" sz="1800" dirty="0">
                <a:solidFill>
                  <a:srgbClr val="FFFFFF"/>
                </a:solidFill>
                <a:latin typeface="Söhne Mono"/>
              </a:rPr>
              <a:t> </a:t>
            </a:r>
            <a:r>
              <a:rPr lang="en-IN" sz="1800" dirty="0">
                <a:solidFill>
                  <a:srgbClr val="FF0000"/>
                </a:solidFill>
                <a:latin typeface="Söhne Mono"/>
              </a:rPr>
              <a:t>1</a:t>
            </a:r>
            <a:r>
              <a:rPr lang="en-IN" sz="1800" b="0" i="0" dirty="0">
                <a:effectLst/>
                <a:latin typeface="Söhne Mono"/>
              </a:rPr>
              <a:t>);   </a:t>
            </a:r>
            <a:r>
              <a:rPr lang="en-IN" sz="1800" dirty="0">
                <a:solidFill>
                  <a:schemeClr val="tx2">
                    <a:lumMod val="75000"/>
                  </a:schemeClr>
                </a:solidFill>
                <a:latin typeface="Söhne Mono"/>
              </a:rPr>
              <a:t>// You can select enum values by index</a:t>
            </a:r>
            <a:r>
              <a:rPr lang="en-IN" sz="1800" b="0" i="0" dirty="0">
                <a:effectLst/>
                <a:latin typeface="Söhne Mono"/>
              </a:rPr>
              <a:t> </a:t>
            </a:r>
            <a:endParaRPr lang="en-IN" sz="1800" b="0" i="0" dirty="0">
              <a:solidFill>
                <a:schemeClr val="tx2">
                  <a:lumMod val="75000"/>
                </a:schemeClr>
              </a:solidFill>
              <a:effectLst/>
              <a:latin typeface="Söhne Mono"/>
            </a:endParaRPr>
          </a:p>
          <a:p>
            <a:pPr marL="0" indent="0">
              <a:buNone/>
            </a:pP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dirty="0">
                <a:latin typeface="Söhne Mono"/>
              </a:rPr>
              <a:t>,</a:t>
            </a:r>
            <a:r>
              <a:rPr lang="en-IN" sz="1800" dirty="0">
                <a:solidFill>
                  <a:srgbClr val="FFFFFF"/>
                </a:solidFill>
                <a:latin typeface="Söhne Mono"/>
              </a:rPr>
              <a:t> </a:t>
            </a:r>
            <a:r>
              <a:rPr lang="en-IN" sz="1800" dirty="0">
                <a:solidFill>
                  <a:srgbClr val="FF0000"/>
                </a:solidFill>
                <a:latin typeface="Söhne Mono"/>
              </a:rPr>
              <a:t>NULL</a:t>
            </a:r>
            <a:r>
              <a:rPr lang="en-IN" sz="1800" b="0" i="0" dirty="0">
                <a:effectLst/>
                <a:latin typeface="Söhne Mono"/>
              </a:rPr>
              <a:t>);   </a:t>
            </a:r>
            <a:r>
              <a:rPr lang="en-IN" sz="1800" b="0" i="0" dirty="0">
                <a:solidFill>
                  <a:schemeClr val="tx2">
                    <a:lumMod val="75000"/>
                  </a:schemeClr>
                </a:solidFill>
                <a:effectLst/>
                <a:latin typeface="Söhne Mono"/>
              </a:rPr>
              <a:t>// If you don’t apply NOT NULL constraint</a:t>
            </a:r>
            <a:endParaRPr lang="en-IN" sz="1800" b="0" i="0" dirty="0">
              <a:effectLst/>
              <a:latin typeface="Söhne Mono"/>
            </a:endParaRPr>
          </a:p>
          <a:p>
            <a:pPr marL="0" indent="0">
              <a:buNone/>
            </a:pP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b="0" i="0" dirty="0">
                <a:effectLst/>
                <a:latin typeface="Söhne Mono"/>
              </a:rPr>
              <a:t>, </a:t>
            </a:r>
            <a:r>
              <a:rPr lang="en-IN" sz="1800" b="0" i="0" dirty="0">
                <a:solidFill>
                  <a:srgbClr val="00A67D"/>
                </a:solidFill>
                <a:effectLst/>
                <a:latin typeface="Söhne Mono"/>
              </a:rPr>
              <a:t>‘</a:t>
            </a:r>
            <a:r>
              <a:rPr lang="en-IN" sz="1800" b="0" i="0" dirty="0" err="1">
                <a:solidFill>
                  <a:srgbClr val="00A67D"/>
                </a:solidFill>
                <a:effectLst/>
                <a:latin typeface="Söhne Mono"/>
              </a:rPr>
              <a:t>Programming,Database</a:t>
            </a:r>
            <a:r>
              <a:rPr lang="en-IN" sz="1800" b="0" i="0" dirty="0">
                <a:solidFill>
                  <a:srgbClr val="00A67D"/>
                </a:solidFill>
                <a:effectLst/>
                <a:latin typeface="Söhne Mono"/>
              </a:rPr>
              <a:t>’</a:t>
            </a:r>
            <a:r>
              <a:rPr lang="en-IN" sz="1800" b="0" i="0" dirty="0">
                <a:effectLst/>
                <a:latin typeface="Söhne Mono"/>
              </a:rPr>
              <a:t>);  </a:t>
            </a:r>
            <a:r>
              <a:rPr lang="en-IN" sz="1800" b="0" i="0" dirty="0">
                <a:solidFill>
                  <a:schemeClr val="tx2">
                    <a:lumMod val="75000"/>
                  </a:schemeClr>
                </a:solidFill>
                <a:effectLst/>
                <a:latin typeface="Söhne Mono"/>
              </a:rPr>
              <a:t>// You can select multiple values</a:t>
            </a:r>
          </a:p>
          <a:p>
            <a:pPr marL="0" indent="0">
              <a:buNone/>
            </a:pP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b="0" i="0" dirty="0">
                <a:effectLst/>
                <a:latin typeface="Söhne Mono"/>
              </a:rPr>
              <a:t>, </a:t>
            </a:r>
            <a:r>
              <a:rPr lang="en-IN" sz="1800" b="0" i="0" dirty="0">
                <a:solidFill>
                  <a:srgbClr val="00A67D"/>
                </a:solidFill>
                <a:effectLst/>
                <a:latin typeface="Söhne Mono"/>
              </a:rPr>
              <a:t>‘ ’</a:t>
            </a:r>
            <a:r>
              <a:rPr lang="en-IN" sz="1800" b="0" i="0" dirty="0">
                <a:effectLst/>
                <a:latin typeface="Söhne Mono"/>
              </a:rPr>
              <a:t>);   </a:t>
            </a:r>
            <a:r>
              <a:rPr lang="en-IN" sz="1800" b="0" i="0" dirty="0">
                <a:solidFill>
                  <a:schemeClr val="tx2">
                    <a:lumMod val="75000"/>
                  </a:schemeClr>
                </a:solidFill>
                <a:effectLst/>
                <a:latin typeface="Söhne Mono"/>
              </a:rPr>
              <a:t>// No error occur</a:t>
            </a:r>
          </a:p>
          <a:p>
            <a:pPr marL="0" indent="0">
              <a:buNone/>
            </a:pPr>
            <a:r>
              <a:rPr lang="en-IN" sz="1800" b="0" i="0" dirty="0">
                <a:solidFill>
                  <a:schemeClr val="tx2">
                    <a:lumMod val="75000"/>
                  </a:schemeClr>
                </a:solidFill>
                <a:effectLst/>
                <a:latin typeface="Söhne Mono"/>
              </a:rPr>
              <a:t>Or </a:t>
            </a:r>
            <a:r>
              <a:rPr lang="en-IN" sz="1800" b="0" i="0" dirty="0">
                <a:solidFill>
                  <a:srgbClr val="2E95D3"/>
                </a:solidFill>
                <a:effectLst/>
                <a:latin typeface="Söhne Mono"/>
              </a:rPr>
              <a:t>INSERT</a:t>
            </a:r>
            <a:r>
              <a:rPr lang="en-IN" sz="1800" b="0" i="0" dirty="0">
                <a:solidFill>
                  <a:srgbClr val="FFFFFF"/>
                </a:solidFill>
                <a:effectLst/>
                <a:latin typeface="Söhne Mono"/>
              </a:rPr>
              <a:t> </a:t>
            </a:r>
            <a:r>
              <a:rPr lang="en-IN" sz="1800" b="0" i="0" dirty="0">
                <a:solidFill>
                  <a:srgbClr val="2E95D3"/>
                </a:solidFill>
                <a:effectLst/>
                <a:latin typeface="Söhne Mono"/>
              </a:rPr>
              <a:t>INTO</a:t>
            </a:r>
            <a:r>
              <a:rPr lang="en-IN" sz="1800" b="0" i="0" dirty="0">
                <a:solidFill>
                  <a:srgbClr val="FFFFFF"/>
                </a:solidFill>
                <a:effectLst/>
                <a:latin typeface="Söhne Mono"/>
              </a:rPr>
              <a:t> </a:t>
            </a:r>
            <a:r>
              <a:rPr lang="en-IN" sz="1800" b="0" i="0" dirty="0" err="1">
                <a:effectLst/>
                <a:latin typeface="Arial" panose="020B0604020202020204" pitchFamily="34" charset="0"/>
                <a:cs typeface="Arial" panose="020B0604020202020204" pitchFamily="34" charset="0"/>
              </a:rPr>
              <a:t>employee_skills</a:t>
            </a:r>
            <a:r>
              <a:rPr lang="en-IN" sz="1800" b="0" i="0" dirty="0">
                <a:effectLst/>
                <a:latin typeface="Arial" panose="020B0604020202020204" pitchFamily="34" charset="0"/>
                <a:cs typeface="Arial" panose="020B0604020202020204" pitchFamily="34" charset="0"/>
              </a:rPr>
              <a:t> </a:t>
            </a:r>
            <a:r>
              <a:rPr lang="en-IN" sz="1800" b="0" i="0" dirty="0">
                <a:effectLst/>
                <a:latin typeface="Söhne Mono"/>
              </a:rPr>
              <a:t>(id, skills) </a:t>
            </a:r>
            <a:r>
              <a:rPr lang="en-IN" sz="1800" b="0" i="0" dirty="0">
                <a:solidFill>
                  <a:srgbClr val="2E95D3"/>
                </a:solidFill>
                <a:effectLst/>
                <a:latin typeface="Söhne Mono"/>
              </a:rPr>
              <a:t>VALUES</a:t>
            </a:r>
            <a:r>
              <a:rPr lang="en-IN" sz="1800" b="0" i="0" dirty="0">
                <a:effectLst/>
                <a:latin typeface="Söhne Mono"/>
              </a:rPr>
              <a:t> (</a:t>
            </a:r>
            <a:r>
              <a:rPr lang="en-IN" sz="1800" b="0" i="0" dirty="0">
                <a:solidFill>
                  <a:srgbClr val="DF3079"/>
                </a:solidFill>
                <a:effectLst/>
                <a:latin typeface="Söhne Mono"/>
              </a:rPr>
              <a:t>1</a:t>
            </a:r>
            <a:r>
              <a:rPr lang="en-IN" sz="1800" b="0" i="0" dirty="0">
                <a:effectLst/>
                <a:latin typeface="Söhne Mono"/>
              </a:rPr>
              <a:t>, </a:t>
            </a:r>
            <a:r>
              <a:rPr lang="en-IN" sz="2000" dirty="0">
                <a:solidFill>
                  <a:srgbClr val="FF0000"/>
                </a:solidFill>
                <a:latin typeface="Söhne Mono"/>
              </a:rPr>
              <a:t>0</a:t>
            </a:r>
            <a:r>
              <a:rPr lang="en-IN" sz="1800" b="0" i="0" dirty="0">
                <a:effectLst/>
                <a:latin typeface="Söhne Mono"/>
              </a:rPr>
              <a:t>);  </a:t>
            </a:r>
            <a:r>
              <a:rPr lang="en-IN" sz="1800" b="0" i="0" dirty="0">
                <a:solidFill>
                  <a:schemeClr val="bg1">
                    <a:lumMod val="50000"/>
                  </a:schemeClr>
                </a:solidFill>
                <a:effectLst/>
                <a:latin typeface="Söhne Mono"/>
              </a:rPr>
              <a:t>// No error occur because SET start indexing from 0.</a:t>
            </a:r>
          </a:p>
          <a:p>
            <a:pPr marL="0" indent="0">
              <a:buNone/>
            </a:pPr>
            <a:r>
              <a:rPr lang="en-IN" sz="1800" b="0" i="0" dirty="0">
                <a:solidFill>
                  <a:srgbClr val="2E95D3"/>
                </a:solidFill>
                <a:effectLst/>
                <a:latin typeface="Söhne Mono"/>
              </a:rPr>
              <a:t>SELECT</a:t>
            </a:r>
            <a:r>
              <a:rPr lang="en-IN" sz="1800" b="0" i="0" dirty="0">
                <a:effectLst/>
                <a:latin typeface="Söhne Mono"/>
              </a:rPr>
              <a:t> * </a:t>
            </a:r>
            <a:r>
              <a:rPr lang="en-IN" sz="1800" b="0" i="0" dirty="0">
                <a:solidFill>
                  <a:srgbClr val="2E95D3"/>
                </a:solidFill>
                <a:effectLst/>
                <a:latin typeface="Söhne Mono"/>
              </a:rPr>
              <a:t>FROM</a:t>
            </a:r>
            <a:r>
              <a:rPr lang="en-IN" sz="1800" b="0" i="0" dirty="0">
                <a:solidFill>
                  <a:srgbClr val="FFFFFF"/>
                </a:solidFill>
                <a:effectLst/>
                <a:latin typeface="Söhne Mono"/>
              </a:rPr>
              <a:t> </a:t>
            </a:r>
            <a:r>
              <a:rPr lang="en-IN" sz="1800" b="0" i="0" dirty="0" err="1">
                <a:effectLst/>
                <a:latin typeface="Söhne Mono"/>
              </a:rPr>
              <a:t>employee_skills</a:t>
            </a:r>
            <a:r>
              <a:rPr lang="en-IN" sz="1800" b="0" i="0" dirty="0">
                <a:effectLst/>
                <a:latin typeface="Söhne Mono"/>
              </a:rPr>
              <a:t> </a:t>
            </a:r>
            <a:r>
              <a:rPr lang="en-IN" sz="1800" b="0" i="0" dirty="0">
                <a:solidFill>
                  <a:srgbClr val="2E95D3"/>
                </a:solidFill>
                <a:effectLst/>
                <a:latin typeface="Söhne Mono"/>
              </a:rPr>
              <a:t>WHERE</a:t>
            </a:r>
            <a:r>
              <a:rPr lang="en-IN" sz="1800" b="0" i="0" dirty="0">
                <a:effectLst/>
                <a:latin typeface="Söhne Mono"/>
              </a:rPr>
              <a:t> skills = </a:t>
            </a:r>
            <a:r>
              <a:rPr lang="en-IN" sz="1800" b="0" i="0" dirty="0">
                <a:solidFill>
                  <a:srgbClr val="00A67D"/>
                </a:solidFill>
                <a:effectLst/>
                <a:latin typeface="Söhne Mono"/>
              </a:rPr>
              <a:t>'</a:t>
            </a:r>
            <a:r>
              <a:rPr lang="en-IN" sz="1800" b="0" i="0" dirty="0" err="1">
                <a:solidFill>
                  <a:srgbClr val="00A67D"/>
                </a:solidFill>
                <a:effectLst/>
                <a:latin typeface="Söhne Mono"/>
              </a:rPr>
              <a:t>Programming,Database</a:t>
            </a:r>
            <a:r>
              <a:rPr lang="en-IN" sz="1800" b="0" i="0" dirty="0">
                <a:solidFill>
                  <a:srgbClr val="00A67D"/>
                </a:solidFill>
                <a:effectLst/>
                <a:latin typeface="Söhne Mono"/>
              </a:rPr>
              <a:t>'</a:t>
            </a:r>
            <a:r>
              <a:rPr lang="en-IN" sz="1800" b="0" i="0" dirty="0">
                <a:effectLst/>
                <a:latin typeface="Söhne Mono"/>
              </a:rPr>
              <a:t>;</a:t>
            </a:r>
          </a:p>
          <a:p>
            <a:pPr marL="0" indent="0">
              <a:buNone/>
            </a:pPr>
            <a:r>
              <a:rPr lang="en-IN" sz="2000" b="0" i="0" dirty="0">
                <a:solidFill>
                  <a:schemeClr val="bg1">
                    <a:lumMod val="65000"/>
                  </a:schemeClr>
                </a:solidFill>
                <a:effectLst/>
                <a:latin typeface="Söhne Mono"/>
              </a:rPr>
              <a:t> </a:t>
            </a:r>
            <a:r>
              <a:rPr lang="en-IN" sz="2000" b="0" i="0" dirty="0">
                <a:solidFill>
                  <a:schemeClr val="bg1">
                    <a:lumMod val="50000"/>
                  </a:schemeClr>
                </a:solidFill>
                <a:effectLst/>
                <a:latin typeface="Söhne Mono"/>
              </a:rPr>
              <a:t>-- Attempting to insert a row with an invalid ENUM value – </a:t>
            </a:r>
          </a:p>
          <a:p>
            <a:pPr marL="0" indent="0">
              <a:buNone/>
            </a:pPr>
            <a:r>
              <a:rPr lang="en-IN" sz="2000" b="0" i="0" dirty="0">
                <a:solidFill>
                  <a:schemeClr val="bg1">
                    <a:lumMod val="50000"/>
                  </a:schemeClr>
                </a:solidFill>
                <a:effectLst/>
                <a:latin typeface="Söhne Mono"/>
              </a:rPr>
              <a:t>This would result in an error </a:t>
            </a:r>
          </a:p>
          <a:p>
            <a:pPr marL="0" indent="0">
              <a:buNone/>
            </a:pPr>
            <a:r>
              <a:rPr lang="en-IN" sz="2000" b="0" i="0" dirty="0">
                <a:solidFill>
                  <a:srgbClr val="2E95D3"/>
                </a:solidFill>
                <a:effectLst/>
                <a:latin typeface="Söhne Mono"/>
              </a:rPr>
              <a:t>INSERT</a:t>
            </a:r>
            <a:r>
              <a:rPr lang="en-IN" sz="2000" b="0" i="0" dirty="0">
                <a:solidFill>
                  <a:srgbClr val="FFFFFF"/>
                </a:solidFill>
                <a:effectLst/>
                <a:latin typeface="Söhne Mono"/>
              </a:rPr>
              <a:t> </a:t>
            </a:r>
            <a:r>
              <a:rPr lang="en-IN" sz="2000" b="0" i="0" dirty="0">
                <a:solidFill>
                  <a:srgbClr val="2E95D3"/>
                </a:solidFill>
                <a:effectLst/>
                <a:latin typeface="Söhne Mono"/>
              </a:rPr>
              <a:t>INTO</a:t>
            </a:r>
            <a:r>
              <a:rPr lang="en-IN" sz="2000" b="0" i="0" dirty="0">
                <a:solidFill>
                  <a:srgbClr val="FFFFFF"/>
                </a:solidFill>
                <a:effectLst/>
                <a:latin typeface="Söhne Mono"/>
              </a:rPr>
              <a:t> </a:t>
            </a:r>
            <a:r>
              <a:rPr lang="en-IN" sz="2000" b="0" i="0" dirty="0" err="1">
                <a:effectLst/>
                <a:latin typeface="Arial" panose="020B0604020202020204" pitchFamily="34" charset="0"/>
                <a:cs typeface="Arial" panose="020B0604020202020204" pitchFamily="34" charset="0"/>
              </a:rPr>
              <a:t>employee_skills</a:t>
            </a:r>
            <a:r>
              <a:rPr lang="en-IN" sz="2000" b="0" i="0" dirty="0">
                <a:effectLst/>
                <a:latin typeface="Arial" panose="020B0604020202020204" pitchFamily="34" charset="0"/>
                <a:cs typeface="Arial" panose="020B0604020202020204" pitchFamily="34" charset="0"/>
              </a:rPr>
              <a:t> </a:t>
            </a:r>
            <a:r>
              <a:rPr lang="en-IN" sz="2000" b="0" i="0" dirty="0">
                <a:effectLst/>
                <a:latin typeface="Söhne Mono"/>
              </a:rPr>
              <a:t>(id, skills) </a:t>
            </a:r>
            <a:r>
              <a:rPr lang="en-IN" sz="2000" b="0" i="0" dirty="0">
                <a:solidFill>
                  <a:srgbClr val="2E95D3"/>
                </a:solidFill>
                <a:effectLst/>
                <a:latin typeface="Söhne Mono"/>
              </a:rPr>
              <a:t>VALUES</a:t>
            </a:r>
            <a:r>
              <a:rPr lang="en-IN" sz="2000" b="0" i="0" dirty="0">
                <a:solidFill>
                  <a:srgbClr val="FFFFFF"/>
                </a:solidFill>
                <a:effectLst/>
                <a:latin typeface="Söhne Mono"/>
              </a:rPr>
              <a:t> </a:t>
            </a:r>
            <a:r>
              <a:rPr lang="en-IN" sz="2000" b="0" i="0" dirty="0">
                <a:effectLst/>
                <a:latin typeface="Söhne Mono"/>
              </a:rPr>
              <a:t>(</a:t>
            </a:r>
            <a:r>
              <a:rPr lang="en-IN" sz="2000" b="0" i="0" dirty="0">
                <a:solidFill>
                  <a:srgbClr val="DF3079"/>
                </a:solidFill>
                <a:effectLst/>
                <a:latin typeface="Söhne Mono"/>
              </a:rPr>
              <a:t>2</a:t>
            </a:r>
            <a:r>
              <a:rPr lang="en-IN" sz="2000" b="0" i="0" dirty="0">
                <a:effectLst/>
                <a:latin typeface="Söhne Mono"/>
              </a:rPr>
              <a:t>, </a:t>
            </a:r>
            <a:r>
              <a:rPr lang="en-IN" sz="2000" b="0" i="0" dirty="0">
                <a:solidFill>
                  <a:srgbClr val="00A67D"/>
                </a:solidFill>
                <a:effectLst/>
                <a:latin typeface="Söhne Mono"/>
              </a:rPr>
              <a:t>‘App Development’</a:t>
            </a:r>
            <a:r>
              <a:rPr lang="en-IN" sz="2000" b="0" i="0" dirty="0">
                <a:effectLst/>
                <a:latin typeface="Söhne Mono"/>
              </a:rPr>
              <a:t>);</a:t>
            </a:r>
            <a:endParaRPr lang="en-IN" sz="2000" dirty="0"/>
          </a:p>
        </p:txBody>
      </p:sp>
    </p:spTree>
    <p:extLst>
      <p:ext uri="{BB962C8B-B14F-4D97-AF65-F5344CB8AC3E}">
        <p14:creationId xmlns:p14="http://schemas.microsoft.com/office/powerpoint/2010/main" val="29834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9CF3C5-2707-46A4-9703-E3E936A0C9D2}"/>
              </a:ext>
            </a:extLst>
          </p:cNvPr>
          <p:cNvSpPr>
            <a:spLocks noGrp="1"/>
          </p:cNvSpPr>
          <p:nvPr>
            <p:ph type="title"/>
          </p:nvPr>
        </p:nvSpPr>
        <p:spPr>
          <a:xfrm>
            <a:off x="838199" y="234498"/>
            <a:ext cx="10515600" cy="635226"/>
          </a:xfrm>
        </p:spPr>
        <p:txBody>
          <a:bodyPr>
            <a:normAutofit fontScale="90000"/>
          </a:bodyPr>
          <a:lstStyle/>
          <a:p>
            <a:pPr algn="ctr"/>
            <a:r>
              <a:rPr lang="en-IN" b="1" dirty="0"/>
              <a:t>Difference between Set and Enum.</a:t>
            </a:r>
          </a:p>
        </p:txBody>
      </p:sp>
      <p:sp>
        <p:nvSpPr>
          <p:cNvPr id="6" name="Content Placeholder 5">
            <a:extLst>
              <a:ext uri="{FF2B5EF4-FFF2-40B4-BE49-F238E27FC236}">
                <a16:creationId xmlns:a16="http://schemas.microsoft.com/office/drawing/2014/main" id="{8E164DF5-75F5-F475-3425-B81AA3C4705F}"/>
              </a:ext>
            </a:extLst>
          </p:cNvPr>
          <p:cNvSpPr>
            <a:spLocks noGrp="1"/>
          </p:cNvSpPr>
          <p:nvPr>
            <p:ph idx="1"/>
          </p:nvPr>
        </p:nvSpPr>
        <p:spPr>
          <a:xfrm>
            <a:off x="506185" y="1000352"/>
            <a:ext cx="11179629" cy="1379991"/>
          </a:xfrm>
        </p:spPr>
        <p:txBody>
          <a:bodyPr>
            <a:normAutofit/>
          </a:bodyPr>
          <a:lstStyle/>
          <a:p>
            <a:pPr marL="0" indent="0">
              <a:buNone/>
            </a:pPr>
            <a:r>
              <a:rPr lang="en-IN" sz="1800" b="0" i="0" dirty="0">
                <a:solidFill>
                  <a:srgbClr val="333333"/>
                </a:solidFill>
                <a:effectLst/>
                <a:latin typeface="inter-regular"/>
              </a:rPr>
              <a:t>The SET and ENUM data types work in a similar way because </a:t>
            </a:r>
            <a:r>
              <a:rPr lang="en-IN" sz="1800" b="0" i="0" u="none" strike="noStrike" dirty="0">
                <a:solidFill>
                  <a:srgbClr val="008000"/>
                </a:solidFill>
                <a:effectLst/>
                <a:latin typeface="inter-regular"/>
                <a:hlinkClick r:id="rId2"/>
              </a:rPr>
              <a:t>MySQL</a:t>
            </a:r>
            <a:r>
              <a:rPr lang="en-IN" sz="1800" b="0" i="0" dirty="0">
                <a:solidFill>
                  <a:srgbClr val="333333"/>
                </a:solidFill>
                <a:effectLst/>
                <a:latin typeface="inter-regular"/>
              </a:rPr>
              <a:t> uses it with a predefined list of values. </a:t>
            </a:r>
          </a:p>
          <a:p>
            <a:pPr marL="0" indent="0">
              <a:buNone/>
            </a:pPr>
            <a:r>
              <a:rPr lang="en-IN" sz="1800" b="0" i="0" dirty="0">
                <a:solidFill>
                  <a:srgbClr val="333333"/>
                </a:solidFill>
                <a:effectLst/>
                <a:latin typeface="inter-regular"/>
              </a:rPr>
              <a:t>But one thing makes it different that are ENUM data type can hold only a single member of the predefined list of values, whereas SET data type allows us to store zero or any number of values together.</a:t>
            </a:r>
          </a:p>
          <a:p>
            <a:pPr marL="0" indent="0">
              <a:buNone/>
            </a:pPr>
            <a:r>
              <a:rPr lang="en-IN" sz="1800" dirty="0">
                <a:solidFill>
                  <a:srgbClr val="333333"/>
                </a:solidFill>
                <a:latin typeface="inter-regular"/>
              </a:rPr>
              <a:t>If you don’t insert value of Set or Enum type column, by default its value are null.</a:t>
            </a:r>
            <a:endParaRPr lang="en-IN" sz="1800" dirty="0"/>
          </a:p>
        </p:txBody>
      </p:sp>
      <p:graphicFrame>
        <p:nvGraphicFramePr>
          <p:cNvPr id="7" name="Table 6">
            <a:extLst>
              <a:ext uri="{FF2B5EF4-FFF2-40B4-BE49-F238E27FC236}">
                <a16:creationId xmlns:a16="http://schemas.microsoft.com/office/drawing/2014/main" id="{7FF9AEF7-3C91-E726-F651-EABB3D9D4FB2}"/>
              </a:ext>
            </a:extLst>
          </p:cNvPr>
          <p:cNvGraphicFramePr>
            <a:graphicFrameLocks noGrp="1"/>
          </p:cNvGraphicFramePr>
          <p:nvPr>
            <p:extLst>
              <p:ext uri="{D42A27DB-BD31-4B8C-83A1-F6EECF244321}">
                <p14:modId xmlns:p14="http://schemas.microsoft.com/office/powerpoint/2010/main" val="3806302397"/>
              </p:ext>
            </p:extLst>
          </p:nvPr>
        </p:nvGraphicFramePr>
        <p:xfrm>
          <a:off x="373743" y="2994660"/>
          <a:ext cx="6346372" cy="3764280"/>
        </p:xfrm>
        <a:graphic>
          <a:graphicData uri="http://schemas.openxmlformats.org/drawingml/2006/table">
            <a:tbl>
              <a:tblPr firstRow="1" bandRow="1">
                <a:tableStyleId>{5C22544A-7EE6-4342-B048-85BDC9FD1C3A}</a:tableStyleId>
              </a:tblPr>
              <a:tblGrid>
                <a:gridCol w="1586593">
                  <a:extLst>
                    <a:ext uri="{9D8B030D-6E8A-4147-A177-3AD203B41FA5}">
                      <a16:colId xmlns:a16="http://schemas.microsoft.com/office/drawing/2014/main" val="3185931118"/>
                    </a:ext>
                  </a:extLst>
                </a:gridCol>
                <a:gridCol w="1586593">
                  <a:extLst>
                    <a:ext uri="{9D8B030D-6E8A-4147-A177-3AD203B41FA5}">
                      <a16:colId xmlns:a16="http://schemas.microsoft.com/office/drawing/2014/main" val="3579798393"/>
                    </a:ext>
                  </a:extLst>
                </a:gridCol>
                <a:gridCol w="1586593">
                  <a:extLst>
                    <a:ext uri="{9D8B030D-6E8A-4147-A177-3AD203B41FA5}">
                      <a16:colId xmlns:a16="http://schemas.microsoft.com/office/drawing/2014/main" val="3717980881"/>
                    </a:ext>
                  </a:extLst>
                </a:gridCol>
                <a:gridCol w="1586593">
                  <a:extLst>
                    <a:ext uri="{9D8B030D-6E8A-4147-A177-3AD203B41FA5}">
                      <a16:colId xmlns:a16="http://schemas.microsoft.com/office/drawing/2014/main" val="3525354883"/>
                    </a:ext>
                  </a:extLst>
                </a:gridCol>
              </a:tblGrid>
              <a:tr h="370840">
                <a:tc>
                  <a:txBody>
                    <a:bodyPr/>
                    <a:lstStyle/>
                    <a:p>
                      <a:pPr algn="ctr"/>
                      <a:r>
                        <a:rPr lang="en-IN" sz="1900" dirty="0"/>
                        <a:t>Items in Set</a:t>
                      </a:r>
                    </a:p>
                  </a:txBody>
                  <a:tcPr/>
                </a:tc>
                <a:tc>
                  <a:txBody>
                    <a:bodyPr/>
                    <a:lstStyle/>
                    <a:p>
                      <a:pPr algn="ctr"/>
                      <a:r>
                        <a:rPr lang="en-IN" sz="1900" b="1" dirty="0"/>
                        <a:t>Select individual item 2^(n-1)</a:t>
                      </a:r>
                    </a:p>
                    <a:p>
                      <a:pPr algn="ctr"/>
                      <a:r>
                        <a:rPr lang="en-IN" sz="1900" b="1" dirty="0"/>
                        <a:t>N-&gt; no. of item</a:t>
                      </a:r>
                    </a:p>
                  </a:txBody>
                  <a:tcPr/>
                </a:tc>
                <a:tc>
                  <a:txBody>
                    <a:bodyPr/>
                    <a:lstStyle/>
                    <a:p>
                      <a:pPr algn="ctr"/>
                      <a:r>
                        <a:rPr lang="en-IN" sz="1900" dirty="0"/>
                        <a:t>Select group of items</a:t>
                      </a:r>
                    </a:p>
                  </a:txBody>
                  <a:tcPr/>
                </a:tc>
                <a:tc>
                  <a:txBody>
                    <a:bodyPr/>
                    <a:lstStyle/>
                    <a:p>
                      <a:pPr algn="ctr"/>
                      <a:r>
                        <a:rPr lang="en-IN" sz="1900" dirty="0"/>
                        <a:t>Binary Value</a:t>
                      </a:r>
                    </a:p>
                  </a:txBody>
                  <a:tcPr/>
                </a:tc>
                <a:extLst>
                  <a:ext uri="{0D108BD9-81ED-4DB2-BD59-A6C34878D82A}">
                    <a16:rowId xmlns:a16="http://schemas.microsoft.com/office/drawing/2014/main" val="1553102544"/>
                  </a:ext>
                </a:extLst>
              </a:tr>
              <a:tr h="370840">
                <a:tc>
                  <a:txBody>
                    <a:bodyPr/>
                    <a:lstStyle/>
                    <a:p>
                      <a:pPr algn="ctr"/>
                      <a:r>
                        <a:rPr lang="en-IN" dirty="0"/>
                        <a:t>Item 1</a:t>
                      </a:r>
                    </a:p>
                  </a:txBody>
                  <a:tcPr/>
                </a:tc>
                <a:tc>
                  <a:txBody>
                    <a:bodyPr/>
                    <a:lstStyle/>
                    <a:p>
                      <a:pPr algn="ctr"/>
                      <a:r>
                        <a:rPr lang="en-IN" dirty="0"/>
                        <a:t>1 </a:t>
                      </a:r>
                    </a:p>
                  </a:txBody>
                  <a:tcPr/>
                </a:tc>
                <a:tc>
                  <a:txBody>
                    <a:bodyPr/>
                    <a:lstStyle/>
                    <a:p>
                      <a:pPr algn="ctr"/>
                      <a:r>
                        <a:rPr lang="en-IN" dirty="0"/>
                        <a:t>3 = 1, 2</a:t>
                      </a:r>
                    </a:p>
                  </a:txBody>
                  <a:tcPr/>
                </a:tc>
                <a:tc>
                  <a:txBody>
                    <a:bodyPr/>
                    <a:lstStyle/>
                    <a:p>
                      <a:pPr algn="ctr"/>
                      <a:r>
                        <a:rPr lang="en-IN" dirty="0"/>
                        <a:t>0011</a:t>
                      </a:r>
                    </a:p>
                  </a:txBody>
                  <a:tcPr/>
                </a:tc>
                <a:extLst>
                  <a:ext uri="{0D108BD9-81ED-4DB2-BD59-A6C34878D82A}">
                    <a16:rowId xmlns:a16="http://schemas.microsoft.com/office/drawing/2014/main" val="1895335466"/>
                  </a:ext>
                </a:extLst>
              </a:tr>
              <a:tr h="370840">
                <a:tc>
                  <a:txBody>
                    <a:bodyPr/>
                    <a:lstStyle/>
                    <a:p>
                      <a:pPr algn="ctr"/>
                      <a:r>
                        <a:rPr lang="en-IN" dirty="0"/>
                        <a:t>Item 2</a:t>
                      </a:r>
                    </a:p>
                  </a:txBody>
                  <a:tcPr/>
                </a:tc>
                <a:tc>
                  <a:txBody>
                    <a:bodyPr/>
                    <a:lstStyle/>
                    <a:p>
                      <a:pPr algn="ctr"/>
                      <a:r>
                        <a:rPr lang="en-IN" dirty="0"/>
                        <a:t>2</a:t>
                      </a:r>
                    </a:p>
                  </a:txBody>
                  <a:tcPr/>
                </a:tc>
                <a:tc>
                  <a:txBody>
                    <a:bodyPr/>
                    <a:lstStyle/>
                    <a:p>
                      <a:pPr algn="ctr"/>
                      <a:r>
                        <a:rPr lang="en-IN" dirty="0"/>
                        <a:t>5 = 1, 3</a:t>
                      </a:r>
                    </a:p>
                  </a:txBody>
                  <a:tcPr/>
                </a:tc>
                <a:tc>
                  <a:txBody>
                    <a:bodyPr/>
                    <a:lstStyle/>
                    <a:p>
                      <a:pPr algn="ctr"/>
                      <a:r>
                        <a:rPr lang="en-IN" dirty="0"/>
                        <a:t>0101</a:t>
                      </a:r>
                    </a:p>
                  </a:txBody>
                  <a:tcPr/>
                </a:tc>
                <a:extLst>
                  <a:ext uri="{0D108BD9-81ED-4DB2-BD59-A6C34878D82A}">
                    <a16:rowId xmlns:a16="http://schemas.microsoft.com/office/drawing/2014/main" val="520929226"/>
                  </a:ext>
                </a:extLst>
              </a:tr>
              <a:tr h="370840">
                <a:tc>
                  <a:txBody>
                    <a:bodyPr/>
                    <a:lstStyle/>
                    <a:p>
                      <a:pPr algn="ctr"/>
                      <a:r>
                        <a:rPr lang="en-IN" dirty="0"/>
                        <a:t>Item 3</a:t>
                      </a:r>
                    </a:p>
                  </a:txBody>
                  <a:tcPr/>
                </a:tc>
                <a:tc>
                  <a:txBody>
                    <a:bodyPr/>
                    <a:lstStyle/>
                    <a:p>
                      <a:pPr algn="ctr"/>
                      <a:r>
                        <a:rPr lang="en-IN" dirty="0"/>
                        <a:t>4</a:t>
                      </a:r>
                    </a:p>
                  </a:txBody>
                  <a:tcPr/>
                </a:tc>
                <a:tc>
                  <a:txBody>
                    <a:bodyPr/>
                    <a:lstStyle/>
                    <a:p>
                      <a:pPr algn="ctr"/>
                      <a:r>
                        <a:rPr lang="en-IN" dirty="0"/>
                        <a:t>6 = 2, 3</a:t>
                      </a:r>
                    </a:p>
                  </a:txBody>
                  <a:tcPr/>
                </a:tc>
                <a:tc>
                  <a:txBody>
                    <a:bodyPr/>
                    <a:lstStyle/>
                    <a:p>
                      <a:pPr algn="ctr"/>
                      <a:r>
                        <a:rPr lang="en-IN" dirty="0"/>
                        <a:t>0110</a:t>
                      </a:r>
                    </a:p>
                  </a:txBody>
                  <a:tcPr/>
                </a:tc>
                <a:extLst>
                  <a:ext uri="{0D108BD9-81ED-4DB2-BD59-A6C34878D82A}">
                    <a16:rowId xmlns:a16="http://schemas.microsoft.com/office/drawing/2014/main" val="3797572118"/>
                  </a:ext>
                </a:extLst>
              </a:tr>
              <a:tr h="370840">
                <a:tc>
                  <a:txBody>
                    <a:bodyPr/>
                    <a:lstStyle/>
                    <a:p>
                      <a:pPr algn="ctr"/>
                      <a:r>
                        <a:rPr lang="en-IN" dirty="0"/>
                        <a:t>Item 4</a:t>
                      </a:r>
                    </a:p>
                  </a:txBody>
                  <a:tcPr/>
                </a:tc>
                <a:tc>
                  <a:txBody>
                    <a:bodyPr/>
                    <a:lstStyle/>
                    <a:p>
                      <a:pPr algn="ctr"/>
                      <a:r>
                        <a:rPr lang="en-IN" dirty="0"/>
                        <a:t>8</a:t>
                      </a:r>
                    </a:p>
                  </a:txBody>
                  <a:tcPr/>
                </a:tc>
                <a:tc>
                  <a:txBody>
                    <a:bodyPr/>
                    <a:lstStyle/>
                    <a:p>
                      <a:pPr algn="ctr"/>
                      <a:r>
                        <a:rPr lang="en-IN" dirty="0"/>
                        <a:t>7 = 1, 2, 3</a:t>
                      </a:r>
                    </a:p>
                  </a:txBody>
                  <a:tcPr/>
                </a:tc>
                <a:tc>
                  <a:txBody>
                    <a:bodyPr/>
                    <a:lstStyle/>
                    <a:p>
                      <a:pPr algn="ctr"/>
                      <a:r>
                        <a:rPr lang="en-IN" dirty="0"/>
                        <a:t>0111</a:t>
                      </a:r>
                    </a:p>
                  </a:txBody>
                  <a:tcPr/>
                </a:tc>
                <a:extLst>
                  <a:ext uri="{0D108BD9-81ED-4DB2-BD59-A6C34878D82A}">
                    <a16:rowId xmlns:a16="http://schemas.microsoft.com/office/drawing/2014/main" val="1082915381"/>
                  </a:ext>
                </a:extLst>
              </a:tr>
              <a:tr h="370840">
                <a:tc>
                  <a:txBody>
                    <a:bodyPr/>
                    <a:lstStyle/>
                    <a:p>
                      <a:pPr algn="ctr"/>
                      <a:r>
                        <a:rPr lang="en-IN" dirty="0"/>
                        <a:t>Item 5</a:t>
                      </a:r>
                    </a:p>
                  </a:txBody>
                  <a:tcPr/>
                </a:tc>
                <a:tc>
                  <a:txBody>
                    <a:bodyPr/>
                    <a:lstStyle/>
                    <a:p>
                      <a:pPr algn="ctr"/>
                      <a:r>
                        <a:rPr lang="en-IN" dirty="0"/>
                        <a:t>16</a:t>
                      </a:r>
                    </a:p>
                  </a:txBody>
                  <a:tcPr/>
                </a:tc>
                <a:tc>
                  <a:txBody>
                    <a:bodyPr/>
                    <a:lstStyle/>
                    <a:p>
                      <a:pPr algn="ctr"/>
                      <a:r>
                        <a:rPr lang="en-IN" dirty="0"/>
                        <a:t>9 = 1, 4</a:t>
                      </a:r>
                    </a:p>
                  </a:txBody>
                  <a:tcPr/>
                </a:tc>
                <a:tc>
                  <a:txBody>
                    <a:bodyPr/>
                    <a:lstStyle/>
                    <a:p>
                      <a:pPr algn="ctr"/>
                      <a:r>
                        <a:rPr lang="en-IN" dirty="0"/>
                        <a:t>1001</a:t>
                      </a:r>
                    </a:p>
                  </a:txBody>
                  <a:tcPr/>
                </a:tc>
                <a:extLst>
                  <a:ext uri="{0D108BD9-81ED-4DB2-BD59-A6C34878D82A}">
                    <a16:rowId xmlns:a16="http://schemas.microsoft.com/office/drawing/2014/main" val="1390347214"/>
                  </a:ext>
                </a:extLst>
              </a:tr>
              <a:tr h="370840">
                <a:tc>
                  <a:txBody>
                    <a:bodyPr/>
                    <a:lstStyle/>
                    <a:p>
                      <a:pPr algn="ctr"/>
                      <a:r>
                        <a:rPr lang="en-IN" dirty="0"/>
                        <a:t>Item 6</a:t>
                      </a:r>
                    </a:p>
                  </a:txBody>
                  <a:tcPr/>
                </a:tc>
                <a:tc>
                  <a:txBody>
                    <a:bodyPr/>
                    <a:lstStyle/>
                    <a:p>
                      <a:pPr algn="ctr"/>
                      <a:r>
                        <a:rPr lang="en-IN" dirty="0"/>
                        <a:t>32</a:t>
                      </a:r>
                    </a:p>
                  </a:txBody>
                  <a:tcPr/>
                </a:tc>
                <a:tc>
                  <a:txBody>
                    <a:bodyPr/>
                    <a:lstStyle/>
                    <a:p>
                      <a:pPr algn="ctr"/>
                      <a:r>
                        <a:rPr lang="en-IN" dirty="0"/>
                        <a:t>10 = 2, 4</a:t>
                      </a:r>
                    </a:p>
                  </a:txBody>
                  <a:tcPr/>
                </a:tc>
                <a:tc>
                  <a:txBody>
                    <a:bodyPr/>
                    <a:lstStyle/>
                    <a:p>
                      <a:pPr algn="ctr"/>
                      <a:r>
                        <a:rPr lang="en-IN" dirty="0"/>
                        <a:t>1010</a:t>
                      </a:r>
                    </a:p>
                  </a:txBody>
                  <a:tcPr/>
                </a:tc>
                <a:extLst>
                  <a:ext uri="{0D108BD9-81ED-4DB2-BD59-A6C34878D82A}">
                    <a16:rowId xmlns:a16="http://schemas.microsoft.com/office/drawing/2014/main" val="4039797835"/>
                  </a:ext>
                </a:extLst>
              </a:tr>
            </a:tbl>
          </a:graphicData>
        </a:graphic>
      </p:graphicFrame>
      <p:sp>
        <p:nvSpPr>
          <p:cNvPr id="8" name="TextBox 7">
            <a:extLst>
              <a:ext uri="{FF2B5EF4-FFF2-40B4-BE49-F238E27FC236}">
                <a16:creationId xmlns:a16="http://schemas.microsoft.com/office/drawing/2014/main" id="{00578DDE-EBF9-5E3C-D801-D2FC272AB2A3}"/>
              </a:ext>
            </a:extLst>
          </p:cNvPr>
          <p:cNvSpPr txBox="1"/>
          <p:nvPr/>
        </p:nvSpPr>
        <p:spPr>
          <a:xfrm>
            <a:off x="941614" y="2504561"/>
            <a:ext cx="4660900" cy="400110"/>
          </a:xfrm>
          <a:prstGeom prst="rect">
            <a:avLst/>
          </a:prstGeom>
          <a:noFill/>
        </p:spPr>
        <p:txBody>
          <a:bodyPr wrap="square" rtlCol="0">
            <a:spAutoFit/>
          </a:bodyPr>
          <a:lstStyle/>
          <a:p>
            <a:r>
              <a:rPr lang="en-IN" sz="2000" dirty="0">
                <a:solidFill>
                  <a:srgbClr val="7030A0"/>
                </a:solidFill>
              </a:rPr>
              <a:t>Select Item by index into the SET data type-</a:t>
            </a:r>
          </a:p>
        </p:txBody>
      </p:sp>
      <p:sp>
        <p:nvSpPr>
          <p:cNvPr id="9" name="TextBox 8">
            <a:extLst>
              <a:ext uri="{FF2B5EF4-FFF2-40B4-BE49-F238E27FC236}">
                <a16:creationId xmlns:a16="http://schemas.microsoft.com/office/drawing/2014/main" id="{03A92406-A109-46E8-28A2-702AB404462A}"/>
              </a:ext>
            </a:extLst>
          </p:cNvPr>
          <p:cNvSpPr txBox="1"/>
          <p:nvPr/>
        </p:nvSpPr>
        <p:spPr>
          <a:xfrm>
            <a:off x="7621813" y="2782669"/>
            <a:ext cx="3365500" cy="646331"/>
          </a:xfrm>
          <a:prstGeom prst="rect">
            <a:avLst/>
          </a:prstGeom>
          <a:noFill/>
        </p:spPr>
        <p:txBody>
          <a:bodyPr wrap="square" rtlCol="0">
            <a:spAutoFit/>
          </a:bodyPr>
          <a:lstStyle/>
          <a:p>
            <a:r>
              <a:rPr lang="en-IN" dirty="0">
                <a:solidFill>
                  <a:srgbClr val="7030A0"/>
                </a:solidFill>
              </a:rPr>
              <a:t>Select Item by index into the ENUM data type--</a:t>
            </a:r>
          </a:p>
        </p:txBody>
      </p:sp>
      <p:graphicFrame>
        <p:nvGraphicFramePr>
          <p:cNvPr id="10" name="Table 9">
            <a:extLst>
              <a:ext uri="{FF2B5EF4-FFF2-40B4-BE49-F238E27FC236}">
                <a16:creationId xmlns:a16="http://schemas.microsoft.com/office/drawing/2014/main" id="{A4618BBC-808E-C455-2625-C6EDA9AD6589}"/>
              </a:ext>
            </a:extLst>
          </p:cNvPr>
          <p:cNvGraphicFramePr>
            <a:graphicFrameLocks noGrp="1"/>
          </p:cNvGraphicFramePr>
          <p:nvPr>
            <p:extLst>
              <p:ext uri="{D42A27DB-BD31-4B8C-83A1-F6EECF244321}">
                <p14:modId xmlns:p14="http://schemas.microsoft.com/office/powerpoint/2010/main" val="3224342449"/>
              </p:ext>
            </p:extLst>
          </p:nvPr>
        </p:nvGraphicFramePr>
        <p:xfrm>
          <a:off x="7307941" y="3429000"/>
          <a:ext cx="3679372" cy="2895600"/>
        </p:xfrm>
        <a:graphic>
          <a:graphicData uri="http://schemas.openxmlformats.org/drawingml/2006/table">
            <a:tbl>
              <a:tblPr firstRow="1" bandRow="1">
                <a:tableStyleId>{5C22544A-7EE6-4342-B048-85BDC9FD1C3A}</a:tableStyleId>
              </a:tblPr>
              <a:tblGrid>
                <a:gridCol w="1839686">
                  <a:extLst>
                    <a:ext uri="{9D8B030D-6E8A-4147-A177-3AD203B41FA5}">
                      <a16:colId xmlns:a16="http://schemas.microsoft.com/office/drawing/2014/main" val="3185931118"/>
                    </a:ext>
                  </a:extLst>
                </a:gridCol>
                <a:gridCol w="1839686">
                  <a:extLst>
                    <a:ext uri="{9D8B030D-6E8A-4147-A177-3AD203B41FA5}">
                      <a16:colId xmlns:a16="http://schemas.microsoft.com/office/drawing/2014/main" val="3579798393"/>
                    </a:ext>
                  </a:extLst>
                </a:gridCol>
              </a:tblGrid>
              <a:tr h="370840">
                <a:tc>
                  <a:txBody>
                    <a:bodyPr/>
                    <a:lstStyle/>
                    <a:p>
                      <a:pPr algn="ctr"/>
                      <a:r>
                        <a:rPr lang="en-IN" sz="1900" dirty="0"/>
                        <a:t>Items in Enum</a:t>
                      </a:r>
                    </a:p>
                  </a:txBody>
                  <a:tcPr/>
                </a:tc>
                <a:tc>
                  <a:txBody>
                    <a:bodyPr/>
                    <a:lstStyle/>
                    <a:p>
                      <a:pPr algn="ctr"/>
                      <a:r>
                        <a:rPr lang="en-IN" sz="1900" dirty="0"/>
                        <a:t>Select individual item</a:t>
                      </a:r>
                    </a:p>
                  </a:txBody>
                  <a:tcPr/>
                </a:tc>
                <a:extLst>
                  <a:ext uri="{0D108BD9-81ED-4DB2-BD59-A6C34878D82A}">
                    <a16:rowId xmlns:a16="http://schemas.microsoft.com/office/drawing/2014/main" val="1553102544"/>
                  </a:ext>
                </a:extLst>
              </a:tr>
              <a:tr h="370840">
                <a:tc>
                  <a:txBody>
                    <a:bodyPr/>
                    <a:lstStyle/>
                    <a:p>
                      <a:pPr algn="ctr"/>
                      <a:r>
                        <a:rPr lang="en-IN" dirty="0"/>
                        <a:t>Item 1</a:t>
                      </a:r>
                    </a:p>
                  </a:txBody>
                  <a:tcPr/>
                </a:tc>
                <a:tc>
                  <a:txBody>
                    <a:bodyPr/>
                    <a:lstStyle/>
                    <a:p>
                      <a:pPr algn="ctr"/>
                      <a:r>
                        <a:rPr lang="en-IN" dirty="0"/>
                        <a:t>1 </a:t>
                      </a:r>
                    </a:p>
                  </a:txBody>
                  <a:tcPr/>
                </a:tc>
                <a:extLst>
                  <a:ext uri="{0D108BD9-81ED-4DB2-BD59-A6C34878D82A}">
                    <a16:rowId xmlns:a16="http://schemas.microsoft.com/office/drawing/2014/main" val="1895335466"/>
                  </a:ext>
                </a:extLst>
              </a:tr>
              <a:tr h="370840">
                <a:tc>
                  <a:txBody>
                    <a:bodyPr/>
                    <a:lstStyle/>
                    <a:p>
                      <a:pPr algn="ctr"/>
                      <a:r>
                        <a:rPr lang="en-IN" dirty="0"/>
                        <a:t>Item 2</a:t>
                      </a:r>
                    </a:p>
                  </a:txBody>
                  <a:tcPr/>
                </a:tc>
                <a:tc>
                  <a:txBody>
                    <a:bodyPr/>
                    <a:lstStyle/>
                    <a:p>
                      <a:pPr algn="ctr"/>
                      <a:r>
                        <a:rPr lang="en-IN" dirty="0"/>
                        <a:t>2</a:t>
                      </a:r>
                    </a:p>
                  </a:txBody>
                  <a:tcPr/>
                </a:tc>
                <a:extLst>
                  <a:ext uri="{0D108BD9-81ED-4DB2-BD59-A6C34878D82A}">
                    <a16:rowId xmlns:a16="http://schemas.microsoft.com/office/drawing/2014/main" val="520929226"/>
                  </a:ext>
                </a:extLst>
              </a:tr>
              <a:tr h="370840">
                <a:tc>
                  <a:txBody>
                    <a:bodyPr/>
                    <a:lstStyle/>
                    <a:p>
                      <a:pPr algn="ctr"/>
                      <a:r>
                        <a:rPr lang="en-IN" dirty="0"/>
                        <a:t>Item 3</a:t>
                      </a:r>
                    </a:p>
                  </a:txBody>
                  <a:tcPr/>
                </a:tc>
                <a:tc>
                  <a:txBody>
                    <a:bodyPr/>
                    <a:lstStyle/>
                    <a:p>
                      <a:pPr algn="ctr"/>
                      <a:r>
                        <a:rPr lang="en-IN" dirty="0"/>
                        <a:t>3</a:t>
                      </a:r>
                    </a:p>
                  </a:txBody>
                  <a:tcPr/>
                </a:tc>
                <a:extLst>
                  <a:ext uri="{0D108BD9-81ED-4DB2-BD59-A6C34878D82A}">
                    <a16:rowId xmlns:a16="http://schemas.microsoft.com/office/drawing/2014/main" val="3797572118"/>
                  </a:ext>
                </a:extLst>
              </a:tr>
              <a:tr h="370840">
                <a:tc>
                  <a:txBody>
                    <a:bodyPr/>
                    <a:lstStyle/>
                    <a:p>
                      <a:pPr algn="ctr"/>
                      <a:r>
                        <a:rPr lang="en-IN" dirty="0"/>
                        <a:t>Item 4</a:t>
                      </a:r>
                    </a:p>
                  </a:txBody>
                  <a:tcPr/>
                </a:tc>
                <a:tc>
                  <a:txBody>
                    <a:bodyPr/>
                    <a:lstStyle/>
                    <a:p>
                      <a:pPr algn="ctr"/>
                      <a:r>
                        <a:rPr lang="en-IN" dirty="0"/>
                        <a:t>4</a:t>
                      </a:r>
                    </a:p>
                  </a:txBody>
                  <a:tcPr/>
                </a:tc>
                <a:extLst>
                  <a:ext uri="{0D108BD9-81ED-4DB2-BD59-A6C34878D82A}">
                    <a16:rowId xmlns:a16="http://schemas.microsoft.com/office/drawing/2014/main" val="1082915381"/>
                  </a:ext>
                </a:extLst>
              </a:tr>
              <a:tr h="370840">
                <a:tc>
                  <a:txBody>
                    <a:bodyPr/>
                    <a:lstStyle/>
                    <a:p>
                      <a:pPr algn="ctr"/>
                      <a:r>
                        <a:rPr lang="en-IN" dirty="0"/>
                        <a:t>Item 5</a:t>
                      </a:r>
                    </a:p>
                  </a:txBody>
                  <a:tcPr/>
                </a:tc>
                <a:tc>
                  <a:txBody>
                    <a:bodyPr/>
                    <a:lstStyle/>
                    <a:p>
                      <a:pPr algn="ctr"/>
                      <a:r>
                        <a:rPr lang="en-IN" dirty="0"/>
                        <a:t>5</a:t>
                      </a:r>
                    </a:p>
                  </a:txBody>
                  <a:tcPr/>
                </a:tc>
                <a:extLst>
                  <a:ext uri="{0D108BD9-81ED-4DB2-BD59-A6C34878D82A}">
                    <a16:rowId xmlns:a16="http://schemas.microsoft.com/office/drawing/2014/main" val="1390347214"/>
                  </a:ext>
                </a:extLst>
              </a:tr>
              <a:tr h="370840">
                <a:tc>
                  <a:txBody>
                    <a:bodyPr/>
                    <a:lstStyle/>
                    <a:p>
                      <a:pPr algn="ctr"/>
                      <a:r>
                        <a:rPr lang="en-IN" dirty="0"/>
                        <a:t>Item 6</a:t>
                      </a:r>
                    </a:p>
                  </a:txBody>
                  <a:tcPr/>
                </a:tc>
                <a:tc>
                  <a:txBody>
                    <a:bodyPr/>
                    <a:lstStyle/>
                    <a:p>
                      <a:pPr algn="ctr"/>
                      <a:r>
                        <a:rPr lang="en-IN" dirty="0"/>
                        <a:t>6</a:t>
                      </a:r>
                    </a:p>
                  </a:txBody>
                  <a:tcPr/>
                </a:tc>
                <a:extLst>
                  <a:ext uri="{0D108BD9-81ED-4DB2-BD59-A6C34878D82A}">
                    <a16:rowId xmlns:a16="http://schemas.microsoft.com/office/drawing/2014/main" val="4039797835"/>
                  </a:ext>
                </a:extLst>
              </a:tr>
            </a:tbl>
          </a:graphicData>
        </a:graphic>
      </p:graphicFrame>
    </p:spTree>
    <p:extLst>
      <p:ext uri="{BB962C8B-B14F-4D97-AF65-F5344CB8AC3E}">
        <p14:creationId xmlns:p14="http://schemas.microsoft.com/office/powerpoint/2010/main" val="1541307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06D30B-5336-9884-10AE-2B03E922C53D}"/>
              </a:ext>
            </a:extLst>
          </p:cNvPr>
          <p:cNvGraphicFramePr>
            <a:graphicFrameLocks noGrp="1"/>
          </p:cNvGraphicFramePr>
          <p:nvPr>
            <p:extLst>
              <p:ext uri="{D42A27DB-BD31-4B8C-83A1-F6EECF244321}">
                <p14:modId xmlns:p14="http://schemas.microsoft.com/office/powerpoint/2010/main" val="3838776347"/>
              </p:ext>
            </p:extLst>
          </p:nvPr>
        </p:nvGraphicFramePr>
        <p:xfrm>
          <a:off x="464456" y="1806731"/>
          <a:ext cx="10784116" cy="4264416"/>
        </p:xfrm>
        <a:graphic>
          <a:graphicData uri="http://schemas.openxmlformats.org/drawingml/2006/table">
            <a:tbl>
              <a:tblPr firstRow="1" bandRow="1">
                <a:tableStyleId>{5C22544A-7EE6-4342-B048-85BDC9FD1C3A}</a:tableStyleId>
              </a:tblPr>
              <a:tblGrid>
                <a:gridCol w="1727201">
                  <a:extLst>
                    <a:ext uri="{9D8B030D-6E8A-4147-A177-3AD203B41FA5}">
                      <a16:colId xmlns:a16="http://schemas.microsoft.com/office/drawing/2014/main" val="2278857391"/>
                    </a:ext>
                  </a:extLst>
                </a:gridCol>
                <a:gridCol w="2002971">
                  <a:extLst>
                    <a:ext uri="{9D8B030D-6E8A-4147-A177-3AD203B41FA5}">
                      <a16:colId xmlns:a16="http://schemas.microsoft.com/office/drawing/2014/main" val="388238096"/>
                    </a:ext>
                  </a:extLst>
                </a:gridCol>
                <a:gridCol w="7053944">
                  <a:extLst>
                    <a:ext uri="{9D8B030D-6E8A-4147-A177-3AD203B41FA5}">
                      <a16:colId xmlns:a16="http://schemas.microsoft.com/office/drawing/2014/main" val="1460615580"/>
                    </a:ext>
                  </a:extLst>
                </a:gridCol>
              </a:tblGrid>
              <a:tr h="563184">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i="0" kern="1200" dirty="0">
                          <a:solidFill>
                            <a:schemeClr val="lt1"/>
                          </a:solidFill>
                          <a:effectLst/>
                          <a:latin typeface="+mn-lt"/>
                          <a:ea typeface="+mn-ea"/>
                          <a:cs typeface="+mn-cs"/>
                        </a:rPr>
                        <a:t>Date and Time Types</a:t>
                      </a:r>
                      <a:endParaRPr lang="en-IN" sz="2800" dirty="0"/>
                    </a:p>
                  </a:txBody>
                  <a:tcPr anchor="ctr"/>
                </a:tc>
                <a:tc>
                  <a:txBody>
                    <a:bodyPr/>
                    <a:lstStyle/>
                    <a:p>
                      <a:r>
                        <a:rPr lang="en-IN" sz="1800" b="1" i="0" kern="1200" dirty="0">
                          <a:solidFill>
                            <a:schemeClr val="lt1"/>
                          </a:solidFill>
                          <a:effectLst/>
                          <a:latin typeface="+mn-lt"/>
                          <a:ea typeface="+mn-ea"/>
                          <a:cs typeface="+mn-cs"/>
                        </a:rPr>
                        <a:t>DATE</a:t>
                      </a:r>
                      <a:endParaRPr lang="en-IN" dirty="0"/>
                    </a:p>
                  </a:txBody>
                  <a:tcPr anchor="ctr"/>
                </a:tc>
                <a:tc>
                  <a:txBody>
                    <a:bodyPr/>
                    <a:lstStyle/>
                    <a:p>
                      <a:r>
                        <a:rPr lang="en-IN" sz="1800" b="0" i="0" kern="1200" dirty="0">
                          <a:solidFill>
                            <a:schemeClr val="lt1"/>
                          </a:solidFill>
                          <a:effectLst/>
                          <a:latin typeface="+mn-lt"/>
                          <a:ea typeface="+mn-ea"/>
                          <a:cs typeface="+mn-cs"/>
                        </a:rPr>
                        <a:t>The </a:t>
                      </a:r>
                      <a:r>
                        <a:rPr lang="en-IN" dirty="0"/>
                        <a:t>DATE</a:t>
                      </a:r>
                      <a:r>
                        <a:rPr lang="en-IN" sz="1800" b="0" i="0" kern="1200" dirty="0">
                          <a:solidFill>
                            <a:schemeClr val="lt1"/>
                          </a:solidFill>
                          <a:effectLst/>
                          <a:latin typeface="+mn-lt"/>
                          <a:ea typeface="+mn-ea"/>
                          <a:cs typeface="+mn-cs"/>
                        </a:rPr>
                        <a:t> data type is used to store date values in the 'YYYY-MM-DD' format. It represents a date without a time component. </a:t>
                      </a:r>
                    </a:p>
                    <a:p>
                      <a:r>
                        <a:rPr lang="en-IN" sz="1800" b="0" i="0" kern="1200" dirty="0">
                          <a:solidFill>
                            <a:schemeClr val="lt1"/>
                          </a:solidFill>
                          <a:effectLst/>
                          <a:latin typeface="+mn-lt"/>
                          <a:ea typeface="+mn-ea"/>
                          <a:cs typeface="+mn-cs"/>
                        </a:rPr>
                        <a:t>Dates are represented in the 'YYYY-MM-DD' format, where 'YYYY' is the four-digit year, 'MM' is the two-digit month (01 to 12), and 'DD' is the two-digit day of the month (01 to 31).</a:t>
                      </a:r>
                    </a:p>
                    <a:p>
                      <a:r>
                        <a:rPr lang="en-IN" sz="1800" b="0" i="0" kern="1200" dirty="0">
                          <a:solidFill>
                            <a:schemeClr val="lt1"/>
                          </a:solidFill>
                          <a:effectLst/>
                          <a:latin typeface="+mn-lt"/>
                          <a:ea typeface="+mn-ea"/>
                          <a:cs typeface="+mn-cs"/>
                        </a:rPr>
                        <a:t>The </a:t>
                      </a:r>
                      <a:r>
                        <a:rPr lang="en-IN" dirty="0"/>
                        <a:t>DATE</a:t>
                      </a:r>
                      <a:r>
                        <a:rPr lang="en-IN" sz="1800" b="0" i="0" kern="1200" dirty="0">
                          <a:solidFill>
                            <a:schemeClr val="lt1"/>
                          </a:solidFill>
                          <a:effectLst/>
                          <a:latin typeface="+mn-lt"/>
                          <a:ea typeface="+mn-ea"/>
                          <a:cs typeface="+mn-cs"/>
                        </a:rPr>
                        <a:t> type supports a range of dates from '1000-01-01' to '9999-12-31’. The storage size of a </a:t>
                      </a:r>
                      <a:r>
                        <a:rPr lang="en-IN" dirty="0"/>
                        <a:t>DATE</a:t>
                      </a:r>
                      <a:r>
                        <a:rPr lang="en-IN" sz="1800" b="0" i="0" kern="1200" dirty="0">
                          <a:solidFill>
                            <a:schemeClr val="lt1"/>
                          </a:solidFill>
                          <a:effectLst/>
                          <a:latin typeface="+mn-lt"/>
                          <a:ea typeface="+mn-ea"/>
                          <a:cs typeface="+mn-cs"/>
                        </a:rPr>
                        <a:t> is 3 bytes. It's a fixed-size data type.</a:t>
                      </a:r>
                      <a:endParaRPr lang="en-IN" dirty="0"/>
                    </a:p>
                  </a:txBody>
                  <a:tcPr anchor="ctr"/>
                </a:tc>
                <a:extLst>
                  <a:ext uri="{0D108BD9-81ED-4DB2-BD59-A6C34878D82A}">
                    <a16:rowId xmlns:a16="http://schemas.microsoft.com/office/drawing/2014/main" val="4155733011"/>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TIME</a:t>
                      </a:r>
                      <a:endParaRPr lang="en-IN" dirty="0"/>
                    </a:p>
                  </a:txBody>
                  <a:tcPr anchor="ctr"/>
                </a:tc>
                <a:tc>
                  <a:txBody>
                    <a:bodyPr/>
                    <a:lstStyle/>
                    <a:p>
                      <a:r>
                        <a:rPr lang="en-IN" sz="1800" b="0" i="0" kern="1200" dirty="0">
                          <a:solidFill>
                            <a:schemeClr val="dk1"/>
                          </a:solidFill>
                          <a:effectLst/>
                          <a:latin typeface="+mn-lt"/>
                          <a:ea typeface="+mn-ea"/>
                          <a:cs typeface="+mn-cs"/>
                        </a:rPr>
                        <a:t>It's used for storing very small integer values.</a:t>
                      </a:r>
                      <a:endParaRPr lang="en-IN" dirty="0"/>
                    </a:p>
                  </a:txBody>
                  <a:tcPr anchor="ctr"/>
                </a:tc>
                <a:extLst>
                  <a:ext uri="{0D108BD9-81ED-4DB2-BD59-A6C34878D82A}">
                    <a16:rowId xmlns:a16="http://schemas.microsoft.com/office/drawing/2014/main" val="1985530661"/>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DATETIME</a:t>
                      </a:r>
                      <a:endParaRPr lang="en-IN" dirty="0"/>
                    </a:p>
                  </a:txBody>
                  <a:tcPr anchor="ctr"/>
                </a:tc>
                <a:tc>
                  <a:txBody>
                    <a:bodyPr/>
                    <a:lstStyle/>
                    <a:p>
                      <a:r>
                        <a:rPr lang="en-IN" sz="1800" b="0" i="0" kern="1200" dirty="0">
                          <a:solidFill>
                            <a:schemeClr val="dk1"/>
                          </a:solidFill>
                          <a:effectLst/>
                          <a:latin typeface="+mn-lt"/>
                          <a:ea typeface="+mn-ea"/>
                          <a:cs typeface="+mn-cs"/>
                        </a:rPr>
                        <a:t>It's used for small integer values.</a:t>
                      </a:r>
                      <a:endParaRPr lang="en-IN" dirty="0"/>
                    </a:p>
                  </a:txBody>
                  <a:tcPr anchor="ctr"/>
                </a:tc>
                <a:extLst>
                  <a:ext uri="{0D108BD9-81ED-4DB2-BD59-A6C34878D82A}">
                    <a16:rowId xmlns:a16="http://schemas.microsoft.com/office/drawing/2014/main" val="4149506307"/>
                  </a:ext>
                </a:extLst>
              </a:tr>
              <a:tr h="563184">
                <a:tc vMerge="1">
                  <a:txBody>
                    <a:bodyPr/>
                    <a:lstStyle/>
                    <a:p>
                      <a:endParaRPr lang="en-IN" dirty="0"/>
                    </a:p>
                  </a:txBody>
                  <a:tcPr/>
                </a:tc>
                <a:tc>
                  <a:txBody>
                    <a:bodyPr/>
                    <a:lstStyle/>
                    <a:p>
                      <a:r>
                        <a:rPr lang="en-IN" sz="1800" b="1" i="0" kern="1200" dirty="0">
                          <a:solidFill>
                            <a:schemeClr val="dk1"/>
                          </a:solidFill>
                          <a:effectLst/>
                          <a:latin typeface="+mn-lt"/>
                          <a:ea typeface="+mn-ea"/>
                          <a:cs typeface="+mn-cs"/>
                        </a:rPr>
                        <a:t>TIMESTAMP</a:t>
                      </a:r>
                      <a:endParaRPr lang="en-IN" dirty="0"/>
                    </a:p>
                  </a:txBody>
                  <a:tcPr anchor="ctr"/>
                </a:tc>
                <a:tc>
                  <a:txBody>
                    <a:bodyPr/>
                    <a:lstStyle/>
                    <a:p>
                      <a:r>
                        <a:rPr lang="en-IN" sz="1800" b="0" i="0" kern="1200" dirty="0">
                          <a:solidFill>
                            <a:schemeClr val="dk1"/>
                          </a:solidFill>
                          <a:effectLst/>
                          <a:latin typeface="+mn-lt"/>
                          <a:ea typeface="+mn-ea"/>
                          <a:cs typeface="+mn-cs"/>
                        </a:rPr>
                        <a:t>It's used for medium-sized integer values.</a:t>
                      </a:r>
                      <a:endParaRPr lang="en-IN" dirty="0"/>
                    </a:p>
                  </a:txBody>
                  <a:tcPr anchor="ctr"/>
                </a:tc>
                <a:extLst>
                  <a:ext uri="{0D108BD9-81ED-4DB2-BD59-A6C34878D82A}">
                    <a16:rowId xmlns:a16="http://schemas.microsoft.com/office/drawing/2014/main" val="3957503498"/>
                  </a:ext>
                </a:extLst>
              </a:tr>
              <a:tr h="563184">
                <a:tc vMerge="1">
                  <a:txBody>
                    <a:bodyPr/>
                    <a:lstStyle/>
                    <a:p>
                      <a:endParaRPr lang="en-IN" dirty="0"/>
                    </a:p>
                  </a:txBody>
                  <a:tcPr anchor="ctr"/>
                </a:tc>
                <a:tc>
                  <a:txBody>
                    <a:bodyPr/>
                    <a:lstStyle/>
                    <a:p>
                      <a:r>
                        <a:rPr lang="en-IN" sz="1800" b="1" i="0" kern="1200" dirty="0">
                          <a:solidFill>
                            <a:schemeClr val="dk1"/>
                          </a:solidFill>
                          <a:effectLst/>
                          <a:latin typeface="+mn-lt"/>
                          <a:ea typeface="+mn-ea"/>
                          <a:cs typeface="+mn-cs"/>
                        </a:rPr>
                        <a:t>YEAR</a:t>
                      </a:r>
                      <a:endParaRPr lang="en-IN" dirty="0"/>
                    </a:p>
                  </a:txBody>
                  <a:tcPr anchor="ctr"/>
                </a:tc>
                <a:tc>
                  <a:txBody>
                    <a:bodyPr/>
                    <a:lstStyle/>
                    <a:p>
                      <a:r>
                        <a:rPr lang="en-IN" sz="1800" b="0" i="0" kern="1200" dirty="0">
                          <a:solidFill>
                            <a:schemeClr val="dk1"/>
                          </a:solidFill>
                          <a:effectLst/>
                          <a:latin typeface="+mn-lt"/>
                          <a:ea typeface="+mn-ea"/>
                          <a:cs typeface="+mn-cs"/>
                        </a:rPr>
                        <a:t>It's used for large integer values.</a:t>
                      </a:r>
                      <a:endParaRPr lang="en-IN" dirty="0"/>
                    </a:p>
                  </a:txBody>
                  <a:tcPr anchor="ctr"/>
                </a:tc>
                <a:extLst>
                  <a:ext uri="{0D108BD9-81ED-4DB2-BD59-A6C34878D82A}">
                    <a16:rowId xmlns:a16="http://schemas.microsoft.com/office/drawing/2014/main" val="1757341273"/>
                  </a:ext>
                </a:extLst>
              </a:tr>
            </a:tbl>
          </a:graphicData>
        </a:graphic>
      </p:graphicFrame>
      <p:sp>
        <p:nvSpPr>
          <p:cNvPr id="3" name="TextBox 2">
            <a:extLst>
              <a:ext uri="{FF2B5EF4-FFF2-40B4-BE49-F238E27FC236}">
                <a16:creationId xmlns:a16="http://schemas.microsoft.com/office/drawing/2014/main" id="{A8A96D3E-C37B-DD6F-A63C-0CAF9A91434B}"/>
              </a:ext>
            </a:extLst>
          </p:cNvPr>
          <p:cNvSpPr txBox="1"/>
          <p:nvPr/>
        </p:nvSpPr>
        <p:spPr>
          <a:xfrm>
            <a:off x="624114" y="278853"/>
            <a:ext cx="9608458" cy="10160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675023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6D5EF-6380-D14A-5E56-9E91950B09F0}"/>
              </a:ext>
            </a:extLst>
          </p:cNvPr>
          <p:cNvSpPr>
            <a:spLocks noGrp="1"/>
          </p:cNvSpPr>
          <p:nvPr>
            <p:ph type="title"/>
          </p:nvPr>
        </p:nvSpPr>
        <p:spPr/>
        <p:txBody>
          <a:bodyPr/>
          <a:lstStyle/>
          <a:p>
            <a:r>
              <a:rPr lang="en-IN" dirty="0"/>
              <a:t>Difference between MySQL and </a:t>
            </a:r>
            <a:r>
              <a:rPr lang="en-IN" dirty="0" err="1"/>
              <a:t>sql</a:t>
            </a:r>
            <a:r>
              <a:rPr lang="en-IN" dirty="0"/>
              <a:t>?</a:t>
            </a:r>
          </a:p>
        </p:txBody>
      </p:sp>
    </p:spTree>
    <p:extLst>
      <p:ext uri="{BB962C8B-B14F-4D97-AF65-F5344CB8AC3E}">
        <p14:creationId xmlns:p14="http://schemas.microsoft.com/office/powerpoint/2010/main" val="267804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Create and Remove Database?</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464457" y="824138"/>
            <a:ext cx="11146971" cy="5895975"/>
          </a:xfrm>
        </p:spPr>
        <p:txBody>
          <a:bodyPr>
            <a:normAutofit/>
          </a:bodyPr>
          <a:lstStyle/>
          <a:p>
            <a:pPr marL="0" indent="0">
              <a:buNone/>
            </a:pPr>
            <a:r>
              <a:rPr lang="en-IN" sz="2000" b="1" dirty="0">
                <a:latin typeface="Arial" panose="020B0604020202020204" pitchFamily="34" charset="0"/>
                <a:cs typeface="Arial" panose="020B0604020202020204" pitchFamily="34" charset="0"/>
              </a:rPr>
              <a:t>1. Create database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create database </a:t>
            </a:r>
            <a:r>
              <a:rPr lang="en-IN" sz="2000" dirty="0" err="1">
                <a:latin typeface="Arial" panose="020B0604020202020204" pitchFamily="34" charset="0"/>
                <a:cs typeface="Arial" panose="020B0604020202020204" pitchFamily="34" charset="0"/>
              </a:rPr>
              <a:t>database_name</a:t>
            </a:r>
            <a:r>
              <a:rPr lang="en-IN" sz="2000" dirty="0">
                <a:latin typeface="Arial" panose="020B0604020202020204" pitchFamily="34" charset="0"/>
                <a:cs typeface="Arial" panose="020B0604020202020204" pitchFamily="34" charset="0"/>
              </a:rPr>
              <a:t>;</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create database </a:t>
            </a:r>
            <a:r>
              <a:rPr lang="en-IN" sz="2000" dirty="0">
                <a:latin typeface="Arial" panose="020B0604020202020204" pitchFamily="34" charset="0"/>
                <a:cs typeface="Arial" panose="020B0604020202020204" pitchFamily="34" charset="0"/>
              </a:rPr>
              <a:t>db1;</a:t>
            </a:r>
          </a:p>
          <a:p>
            <a:pPr marL="0" indent="0">
              <a:buNone/>
            </a:pPr>
            <a:r>
              <a:rPr lang="en-IN" sz="2000" dirty="0">
                <a:solidFill>
                  <a:schemeClr val="accent3">
                    <a:lumMod val="75000"/>
                  </a:schemeClr>
                </a:solidFill>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create database if not exists </a:t>
            </a:r>
            <a:r>
              <a:rPr lang="en-IN" sz="2000" dirty="0" err="1">
                <a:latin typeface="Arial" panose="020B0604020202020204" pitchFamily="34" charset="0"/>
                <a:cs typeface="Arial" panose="020B0604020202020204" pitchFamily="34" charset="0"/>
              </a:rPr>
              <a:t>database_name</a:t>
            </a:r>
            <a:r>
              <a:rPr lang="en-IN" sz="2000" dirty="0">
                <a:latin typeface="Arial" panose="020B0604020202020204" pitchFamily="34" charset="0"/>
                <a:cs typeface="Arial" panose="020B0604020202020204" pitchFamily="34" charset="0"/>
              </a:rPr>
              <a:t>;</a:t>
            </a:r>
          </a:p>
          <a:p>
            <a:pPr marL="0" indent="0">
              <a:buNone/>
            </a:pPr>
            <a:r>
              <a:rPr lang="en-IN" sz="2000" b="1" dirty="0">
                <a:latin typeface="Arial" panose="020B0604020202020204" pitchFamily="34" charset="0"/>
                <a:cs typeface="Arial" panose="020B0604020202020204" pitchFamily="34" charset="0"/>
              </a:rPr>
              <a:t>2. Remove database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drop database </a:t>
            </a:r>
            <a:r>
              <a:rPr lang="en-IN" sz="2000" dirty="0" err="1">
                <a:latin typeface="Arial" panose="020B0604020202020204" pitchFamily="34" charset="0"/>
                <a:cs typeface="Arial" panose="020B0604020202020204" pitchFamily="34" charset="0"/>
              </a:rPr>
              <a:t>database_name</a:t>
            </a: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drop database </a:t>
            </a:r>
            <a:r>
              <a:rPr lang="en-IN" sz="2000" dirty="0">
                <a:latin typeface="Arial" panose="020B0604020202020204" pitchFamily="34" charset="0"/>
                <a:cs typeface="Arial" panose="020B0604020202020204" pitchFamily="34" charset="0"/>
              </a:rPr>
              <a:t>db1;</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drop database if exists </a:t>
            </a:r>
            <a:r>
              <a:rPr lang="en-IN" sz="2000" dirty="0" err="1">
                <a:latin typeface="Arial" panose="020B0604020202020204" pitchFamily="34" charset="0"/>
                <a:cs typeface="Arial" panose="020B0604020202020204" pitchFamily="34" charset="0"/>
              </a:rPr>
              <a:t>database_name</a:t>
            </a:r>
            <a:r>
              <a:rPr lang="en-IN" sz="2000" dirty="0">
                <a:latin typeface="Arial" panose="020B0604020202020204" pitchFamily="34" charset="0"/>
                <a:cs typeface="Arial" panose="020B0604020202020204" pitchFamily="34" charset="0"/>
              </a:rPr>
              <a:t>;</a:t>
            </a:r>
          </a:p>
          <a:p>
            <a:pPr marL="0" indent="0">
              <a:buNone/>
            </a:pPr>
            <a:r>
              <a:rPr lang="en-IN" sz="2000" b="1" dirty="0">
                <a:latin typeface="Arial" panose="020B0604020202020204" pitchFamily="34" charset="0"/>
                <a:cs typeface="Arial" panose="020B0604020202020204" pitchFamily="34" charset="0"/>
              </a:rPr>
              <a:t>3. Show databases</a:t>
            </a:r>
          </a:p>
          <a:p>
            <a:pPr marL="0" indent="0">
              <a:buNone/>
            </a:pPr>
            <a:r>
              <a:rPr lang="en-IN"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latin typeface="Arial" panose="020B0604020202020204" pitchFamily="34" charset="0"/>
                <a:cs typeface="Arial" panose="020B0604020202020204" pitchFamily="34" charset="0"/>
              </a:rPr>
              <a:t>show databases;</a:t>
            </a:r>
          </a:p>
          <a:p>
            <a:pPr marL="0" indent="0">
              <a:buNone/>
            </a:pPr>
            <a:r>
              <a:rPr lang="en-IN" sz="2000" b="1" dirty="0">
                <a:latin typeface="Arial" panose="020B0604020202020204" pitchFamily="34" charset="0"/>
                <a:cs typeface="Arial" panose="020B0604020202020204" pitchFamily="34" charset="0"/>
              </a:rPr>
              <a:t>4. Use database</a:t>
            </a:r>
          </a:p>
          <a:p>
            <a:pPr marL="0" indent="0">
              <a:buNone/>
            </a:pPr>
            <a:r>
              <a:rPr lang="en-IN" sz="2000" b="1"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use</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database_name</a:t>
            </a:r>
            <a:r>
              <a:rPr lang="en-IN" sz="2000" dirty="0">
                <a:latin typeface="Arial" panose="020B0604020202020204" pitchFamily="34" charset="0"/>
                <a:cs typeface="Arial" panose="020B0604020202020204" pitchFamily="34" charset="0"/>
              </a:rPr>
              <a:t>;</a:t>
            </a:r>
          </a:p>
          <a:p>
            <a:pPr marL="0" indent="0">
              <a:buNone/>
            </a:pPr>
            <a:r>
              <a:rPr lang="en-IN"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5. Status</a:t>
            </a:r>
          </a:p>
          <a:p>
            <a:pPr marL="0" indent="0">
              <a:buNone/>
            </a:pPr>
            <a:r>
              <a:rPr lang="en-IN"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z="2000" dirty="0">
                <a:solidFill>
                  <a:schemeClr val="accent3">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Syntax :- </a:t>
            </a:r>
            <a:r>
              <a:rPr lang="en-IN"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status;</a:t>
            </a:r>
          </a:p>
          <a:p>
            <a:pPr marL="0" indent="0">
              <a:buNone/>
            </a:pPr>
            <a:endParaRPr lang="en-IN" sz="2000" dirty="0">
              <a:latin typeface="Arial" panose="020B0604020202020204" pitchFamily="34" charset="0"/>
              <a:cs typeface="Arial" panose="020B0604020202020204" pitchFamily="34" charset="0"/>
            </a:endParaRP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7418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Create and Remove Tables?</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261257" y="824139"/>
            <a:ext cx="11509830" cy="5765348"/>
          </a:xfrm>
        </p:spPr>
        <p:txBody>
          <a:bodyPr>
            <a:normAutofit/>
          </a:bodyPr>
          <a:lstStyle/>
          <a:p>
            <a:pPr marL="0" indent="0">
              <a:buNone/>
            </a:pPr>
            <a:r>
              <a:rPr lang="en-IN" sz="2000" b="1" dirty="0">
                <a:latin typeface="Arial" panose="020B0604020202020204" pitchFamily="34" charset="0"/>
                <a:cs typeface="Arial" panose="020B0604020202020204" pitchFamily="34" charset="0"/>
              </a:rPr>
              <a:t>1. Create table</a:t>
            </a:r>
          </a:p>
          <a:p>
            <a:pPr marL="0" indent="0">
              <a:buNone/>
            </a:pPr>
            <a:r>
              <a:rPr lang="en-IN" sz="2000" dirty="0">
                <a:solidFill>
                  <a:schemeClr val="accent3">
                    <a:lumMod val="75000"/>
                  </a:schemeClr>
                </a:solidFill>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create table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(column1 datatype, column2 datatype, </a:t>
            </a:r>
            <a:r>
              <a:rPr lang="en-IN" sz="2000" dirty="0" err="1">
                <a:latin typeface="Arial" panose="020B0604020202020204" pitchFamily="34" charset="0"/>
                <a:cs typeface="Arial" panose="020B0604020202020204" pitchFamily="34" charset="0"/>
              </a:rPr>
              <a:t>columnN</a:t>
            </a:r>
            <a:r>
              <a:rPr lang="en-IN" sz="2000" dirty="0">
                <a:latin typeface="Arial" panose="020B0604020202020204" pitchFamily="34" charset="0"/>
                <a:cs typeface="Arial" panose="020B0604020202020204" pitchFamily="34" charset="0"/>
              </a:rPr>
              <a:t> datatype);</a:t>
            </a:r>
          </a:p>
          <a:p>
            <a:pPr marL="0" indent="0">
              <a:buNone/>
            </a:pPr>
            <a:r>
              <a:rPr lang="en-IN" sz="2000" dirty="0">
                <a:solidFill>
                  <a:schemeClr val="accent3">
                    <a:lumMod val="75000"/>
                  </a:schemeClr>
                </a:solidFill>
                <a:latin typeface="Arial" panose="020B0604020202020204" pitchFamily="34" charset="0"/>
                <a:cs typeface="Arial" panose="020B0604020202020204" pitchFamily="34" charset="0"/>
              </a:rPr>
              <a:t>          Example :- </a:t>
            </a:r>
            <a:r>
              <a:rPr lang="en-IN" sz="2000" dirty="0">
                <a:solidFill>
                  <a:schemeClr val="accent2">
                    <a:lumMod val="75000"/>
                  </a:schemeClr>
                </a:solidFill>
                <a:latin typeface="Arial" panose="020B0604020202020204" pitchFamily="34" charset="0"/>
                <a:cs typeface="Arial" panose="020B0604020202020204" pitchFamily="34" charset="0"/>
              </a:rPr>
              <a:t>create table </a:t>
            </a:r>
            <a:r>
              <a:rPr lang="en-IN" sz="2000" dirty="0">
                <a:latin typeface="Arial" panose="020B0604020202020204" pitchFamily="34" charset="0"/>
                <a:cs typeface="Arial" panose="020B0604020202020204" pitchFamily="34" charset="0"/>
              </a:rPr>
              <a:t>Employee ( </a:t>
            </a:r>
            <a:r>
              <a:rPr lang="en-IN" sz="2000" dirty="0" err="1">
                <a:latin typeface="Arial" panose="020B0604020202020204" pitchFamily="34" charset="0"/>
                <a:cs typeface="Arial" panose="020B0604020202020204" pitchFamily="34" charset="0"/>
              </a:rPr>
              <a:t>First_name</a:t>
            </a:r>
            <a:r>
              <a:rPr lang="en-IN" sz="2000" dirty="0">
                <a:latin typeface="Arial" panose="020B0604020202020204" pitchFamily="34" charset="0"/>
                <a:cs typeface="Arial" panose="020B0604020202020204" pitchFamily="34" charset="0"/>
              </a:rPr>
              <a:t> varchar(10), </a:t>
            </a:r>
            <a:r>
              <a:rPr lang="en-IN" sz="2000" dirty="0" err="1">
                <a:latin typeface="Arial" panose="020B0604020202020204" pitchFamily="34" charset="0"/>
                <a:cs typeface="Arial" panose="020B0604020202020204" pitchFamily="34" charset="0"/>
              </a:rPr>
              <a:t>Last_name</a:t>
            </a:r>
            <a:r>
              <a:rPr lang="en-IN" sz="2000" dirty="0">
                <a:latin typeface="Arial" panose="020B0604020202020204" pitchFamily="34" charset="0"/>
                <a:cs typeface="Arial" panose="020B0604020202020204" pitchFamily="34" charset="0"/>
              </a:rPr>
              <a:t> varchar(10), </a:t>
            </a:r>
            <a:r>
              <a:rPr lang="en-IN" sz="2000" dirty="0" err="1">
                <a:latin typeface="Arial" panose="020B0604020202020204" pitchFamily="34" charset="0"/>
                <a:cs typeface="Arial" panose="020B0604020202020204" pitchFamily="34" charset="0"/>
              </a:rPr>
              <a:t>emp_Id</a:t>
            </a:r>
            <a:r>
              <a:rPr lang="en-IN" sz="2000" dirty="0">
                <a:latin typeface="Arial" panose="020B0604020202020204" pitchFamily="34" charset="0"/>
                <a:cs typeface="Arial" panose="020B0604020202020204" pitchFamily="34" charset="0"/>
              </a:rPr>
              <a:t> 					 int(6), salary float(8,2));</a:t>
            </a:r>
          </a:p>
          <a:p>
            <a:pPr marL="0" indent="0">
              <a:buNone/>
            </a:pPr>
            <a:r>
              <a:rPr lang="en-IN" sz="2000" dirty="0">
                <a:solidFill>
                  <a:schemeClr val="accent3">
                    <a:lumMod val="75000"/>
                  </a:schemeClr>
                </a:solidFill>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create table if not exists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(column1 datatype, column2 datatype, 										       </a:t>
            </a:r>
            <a:r>
              <a:rPr lang="en-IN" sz="2000" dirty="0" err="1">
                <a:latin typeface="Arial" panose="020B0604020202020204" pitchFamily="34" charset="0"/>
                <a:cs typeface="Arial" panose="020B0604020202020204" pitchFamily="34" charset="0"/>
              </a:rPr>
              <a:t>columnN</a:t>
            </a:r>
            <a:r>
              <a:rPr lang="en-IN" sz="2000" dirty="0">
                <a:latin typeface="Arial" panose="020B0604020202020204" pitchFamily="34" charset="0"/>
                <a:cs typeface="Arial" panose="020B0604020202020204" pitchFamily="34" charset="0"/>
              </a:rPr>
              <a:t> datatype);</a:t>
            </a:r>
          </a:p>
          <a:p>
            <a:pPr marL="0" indent="0">
              <a:buNone/>
            </a:pPr>
            <a:r>
              <a:rPr lang="en-IN" sz="2000" b="1" dirty="0">
                <a:latin typeface="Arial" panose="020B0604020202020204" pitchFamily="34" charset="0"/>
                <a:cs typeface="Arial" panose="020B0604020202020204" pitchFamily="34" charset="0"/>
              </a:rPr>
              <a:t>2. Remove table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drop table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drop table </a:t>
            </a:r>
            <a:r>
              <a:rPr lang="en-IN" sz="2000" dirty="0">
                <a:latin typeface="Arial" panose="020B0604020202020204" pitchFamily="34" charset="0"/>
                <a:cs typeface="Arial" panose="020B0604020202020204" pitchFamily="34" charset="0"/>
              </a:rPr>
              <a:t>Employee;</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drop table if exists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a:t>
            </a:r>
          </a:p>
          <a:p>
            <a:pPr marL="0" indent="0">
              <a:buNone/>
            </a:pPr>
            <a:r>
              <a:rPr lang="en-IN" sz="2000" b="1" dirty="0">
                <a:latin typeface="Arial" panose="020B0604020202020204" pitchFamily="34" charset="0"/>
                <a:cs typeface="Arial" panose="020B0604020202020204" pitchFamily="34" charset="0"/>
              </a:rPr>
              <a:t>3. Show tables</a:t>
            </a:r>
          </a:p>
          <a:p>
            <a:pPr marL="0" indent="0">
              <a:buNone/>
            </a:pPr>
            <a:r>
              <a:rPr lang="en-IN" sz="2000" b="1"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latin typeface="Arial" panose="020B0604020202020204" pitchFamily="34" charset="0"/>
                <a:cs typeface="Arial" panose="020B0604020202020204" pitchFamily="34" charset="0"/>
              </a:rPr>
              <a:t>show tables;</a:t>
            </a:r>
          </a:p>
          <a:p>
            <a:pPr marL="0" indent="0">
              <a:buNone/>
            </a:pPr>
            <a:r>
              <a:rPr lang="en-IN" sz="2000" b="1" dirty="0">
                <a:latin typeface="Arial" panose="020B0604020202020204" pitchFamily="34" charset="0"/>
                <a:cs typeface="Arial" panose="020B0604020202020204" pitchFamily="34" charset="0"/>
              </a:rPr>
              <a:t>4. Describe tables</a:t>
            </a:r>
          </a:p>
          <a:p>
            <a:pPr marL="0" indent="0">
              <a:buNone/>
            </a:pPr>
            <a:r>
              <a:rPr lang="en-IN" sz="2000" b="1"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describe</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table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describe table </a:t>
            </a:r>
            <a:r>
              <a:rPr lang="en-IN" sz="2000" dirty="0">
                <a:latin typeface="Arial" panose="020B0604020202020204" pitchFamily="34" charset="0"/>
                <a:cs typeface="Arial" panose="020B0604020202020204" pitchFamily="34" charset="0"/>
              </a:rPr>
              <a:t>Employee;</a:t>
            </a:r>
          </a:p>
          <a:p>
            <a:pPr marL="0" indent="0">
              <a:buNone/>
            </a:pPr>
            <a:r>
              <a:rPr lang="en-IN" sz="2000" b="1" dirty="0">
                <a:latin typeface="Arial" panose="020B0604020202020204" pitchFamily="34" charset="0"/>
                <a:cs typeface="Arial" panose="020B0604020202020204" pitchFamily="34" charset="0"/>
              </a:rPr>
              <a:t>5. Modify column </a:t>
            </a:r>
          </a:p>
          <a:p>
            <a:pPr marL="0" indent="0">
              <a:buNone/>
            </a:pPr>
            <a:r>
              <a:rPr lang="en-IN" sz="2000" b="1" dirty="0">
                <a:latin typeface="Arial" panose="020B0604020202020204" pitchFamily="34" charset="0"/>
                <a:cs typeface="Arial" panose="020B0604020202020204" pitchFamily="34" charset="0"/>
              </a:rPr>
              <a:t>	</a:t>
            </a:r>
            <a:r>
              <a:rPr lang="en-IN" sz="2000" dirty="0">
                <a:solidFill>
                  <a:schemeClr val="accent3">
                    <a:lumMod val="75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Alter</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table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modify</a:t>
            </a:r>
            <a:r>
              <a:rPr lang="en-IN" sz="2000" dirty="0">
                <a:latin typeface="Arial" panose="020B0604020202020204" pitchFamily="34" charset="0"/>
                <a:cs typeface="Arial" panose="020B0604020202020204" pitchFamily="34" charset="0"/>
              </a:rPr>
              <a:t> column_name data_type(</a:t>
            </a:r>
            <a:r>
              <a:rPr lang="en-IN" sz="2000" dirty="0">
                <a:solidFill>
                  <a:schemeClr val="accent4">
                    <a:lumMod val="75000"/>
                  </a:schemeClr>
                </a:solidFill>
                <a:latin typeface="Arial" panose="020B0604020202020204" pitchFamily="34" charset="0"/>
                <a:cs typeface="Arial" panose="020B0604020202020204" pitchFamily="34" charset="0"/>
              </a:rPr>
              <a:t>size</a:t>
            </a:r>
            <a:r>
              <a:rPr lang="en-IN" sz="2000" dirty="0">
                <a:latin typeface="Arial" panose="020B0604020202020204" pitchFamily="34" charset="0"/>
                <a:cs typeface="Arial" panose="020B0604020202020204" pitchFamily="34" charset="0"/>
              </a:rPr>
              <a:t>);	</a:t>
            </a: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9334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Insert and Delete data into tables?</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261256" y="824138"/>
            <a:ext cx="11640457" cy="5895975"/>
          </a:xfrm>
        </p:spPr>
        <p:txBody>
          <a:bodyPr>
            <a:normAutofit/>
          </a:bodyPr>
          <a:lstStyle/>
          <a:p>
            <a:pPr marL="0" indent="0">
              <a:buNone/>
            </a:pPr>
            <a:r>
              <a:rPr lang="en-IN" sz="2000" b="1" dirty="0">
                <a:latin typeface="Arial" panose="020B0604020202020204" pitchFamily="34" charset="0"/>
                <a:cs typeface="Arial" panose="020B0604020202020204" pitchFamily="34" charset="0"/>
              </a:rPr>
              <a:t>1. Insert data into table :-</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insert into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(column names) </a:t>
            </a:r>
            <a:r>
              <a:rPr lang="en-IN" sz="2000" dirty="0">
                <a:solidFill>
                  <a:schemeClr val="accent2">
                    <a:lumMod val="75000"/>
                  </a:schemeClr>
                </a:solidFill>
                <a:latin typeface="Arial" panose="020B0604020202020204" pitchFamily="34" charset="0"/>
                <a:cs typeface="Arial" panose="020B0604020202020204" pitchFamily="34" charset="0"/>
              </a:rPr>
              <a:t>values</a:t>
            </a:r>
            <a:r>
              <a:rPr lang="en-IN" sz="2000" dirty="0">
                <a:latin typeface="Arial" panose="020B0604020202020204" pitchFamily="34" charset="0"/>
                <a:cs typeface="Arial" panose="020B0604020202020204" pitchFamily="34" charset="0"/>
              </a:rPr>
              <a:t> (values of columns);</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insert into </a:t>
            </a:r>
            <a:r>
              <a:rPr lang="en-IN" sz="2000" dirty="0">
                <a:latin typeface="Arial" panose="020B0604020202020204" pitchFamily="34" charset="0"/>
                <a:cs typeface="Arial" panose="020B0604020202020204" pitchFamily="34" charset="0"/>
              </a:rPr>
              <a:t>Employee (</a:t>
            </a:r>
            <a:r>
              <a:rPr lang="en-IN" sz="2000" dirty="0" err="1">
                <a:latin typeface="Arial" panose="020B0604020202020204" pitchFamily="34" charset="0"/>
                <a:cs typeface="Arial" panose="020B0604020202020204" pitchFamily="34" charset="0"/>
              </a:rPr>
              <a:t>emp_Id</a:t>
            </a:r>
            <a:r>
              <a:rPr lang="en-IN" sz="2000" dirty="0">
                <a:latin typeface="Arial" panose="020B0604020202020204" pitchFamily="34" charset="0"/>
                <a:cs typeface="Arial" panose="020B0604020202020204" pitchFamily="34" charset="0"/>
              </a:rPr>
              <a:t>, emp_name, salary) </a:t>
            </a:r>
            <a:r>
              <a:rPr lang="en-IN" sz="2000" dirty="0">
                <a:solidFill>
                  <a:schemeClr val="accent2">
                    <a:lumMod val="75000"/>
                  </a:schemeClr>
                </a:solidFill>
                <a:latin typeface="Arial" panose="020B0604020202020204" pitchFamily="34" charset="0"/>
                <a:cs typeface="Arial" panose="020B0604020202020204" pitchFamily="34" charset="0"/>
              </a:rPr>
              <a:t>values</a:t>
            </a:r>
            <a:r>
              <a:rPr lang="en-IN" sz="2000" dirty="0">
                <a:latin typeface="Arial" panose="020B0604020202020204" pitchFamily="34" charset="0"/>
                <a:cs typeface="Arial" panose="020B0604020202020204" pitchFamily="34" charset="0"/>
              </a:rPr>
              <a:t> (6,”Aman”, 3500.00);</a:t>
            </a:r>
          </a:p>
          <a:p>
            <a:pPr marL="0" indent="0">
              <a:buNone/>
            </a:pPr>
            <a:r>
              <a:rPr lang="en-IN" sz="2000" b="1" dirty="0">
                <a:latin typeface="Arial" panose="020B0604020202020204" pitchFamily="34" charset="0"/>
                <a:cs typeface="Arial" panose="020B0604020202020204" pitchFamily="34" charset="0"/>
              </a:rPr>
              <a:t>2. Delete  data from table :- </a:t>
            </a:r>
          </a:p>
          <a:p>
            <a:pPr marL="0" indent="0">
              <a:buNone/>
            </a:pPr>
            <a:r>
              <a:rPr lang="en-IN" sz="20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latin typeface="Arial" panose="020B0604020202020204" pitchFamily="34" charset="0"/>
                <a:cs typeface="Arial" panose="020B0604020202020204" pitchFamily="34" charset="0"/>
              </a:rPr>
              <a:t>Deleting all rows(data) from table.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Delete from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Delete from </a:t>
            </a:r>
            <a:r>
              <a:rPr lang="en-IN" sz="2000" dirty="0">
                <a:latin typeface="Arial" panose="020B0604020202020204" pitchFamily="34" charset="0"/>
                <a:cs typeface="Arial" panose="020B0604020202020204" pitchFamily="34" charset="0"/>
              </a:rPr>
              <a:t>Employee;</a:t>
            </a:r>
          </a:p>
          <a:p>
            <a:pPr marL="0" indent="0">
              <a:buNone/>
            </a:pPr>
            <a:r>
              <a:rPr lang="en-IN" sz="20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latin typeface="Arial" panose="020B0604020202020204" pitchFamily="34" charset="0"/>
                <a:cs typeface="Arial" panose="020B0604020202020204" pitchFamily="34" charset="0"/>
              </a:rPr>
              <a:t>Deleting selected rows(data) from table.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Delete from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Where</a:t>
            </a:r>
            <a:r>
              <a:rPr lang="en-IN" sz="2000" dirty="0">
                <a:latin typeface="Arial" panose="020B0604020202020204" pitchFamily="34" charset="0"/>
                <a:cs typeface="Arial" panose="020B0604020202020204" pitchFamily="34" charset="0"/>
              </a:rPr>
              <a:t> condition;</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Delete from </a:t>
            </a:r>
            <a:r>
              <a:rPr lang="en-IN" sz="2000" dirty="0">
                <a:latin typeface="Arial" panose="020B0604020202020204" pitchFamily="34" charset="0"/>
                <a:cs typeface="Arial" panose="020B0604020202020204" pitchFamily="34" charset="0"/>
              </a:rPr>
              <a:t>Employee </a:t>
            </a:r>
            <a:r>
              <a:rPr lang="en-IN" sz="2000" dirty="0">
                <a:solidFill>
                  <a:schemeClr val="accent2">
                    <a:lumMod val="75000"/>
                  </a:schemeClr>
                </a:solidFill>
                <a:latin typeface="Arial" panose="020B0604020202020204" pitchFamily="34" charset="0"/>
                <a:cs typeface="Arial" panose="020B0604020202020204" pitchFamily="34" charset="0"/>
              </a:rPr>
              <a:t>Where</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emp_id</a:t>
            </a:r>
            <a:r>
              <a:rPr lang="en-IN" sz="2000" dirty="0">
                <a:latin typeface="Arial" panose="020B0604020202020204" pitchFamily="34" charset="0"/>
                <a:cs typeface="Arial" panose="020B0604020202020204" pitchFamily="34" charset="0"/>
              </a:rPr>
              <a:t>=2;</a:t>
            </a:r>
          </a:p>
          <a:p>
            <a:pPr marL="0" indent="0">
              <a:buNone/>
            </a:pPr>
            <a:r>
              <a:rPr lang="en-IN" sz="2000" b="1" dirty="0">
                <a:latin typeface="Arial" panose="020B0604020202020204" pitchFamily="34" charset="0"/>
                <a:cs typeface="Arial" panose="020B0604020202020204" pitchFamily="34" charset="0"/>
              </a:rPr>
              <a:t>3. Display all Records of table :- </a:t>
            </a:r>
          </a:p>
          <a:p>
            <a:pPr marL="0" indent="0">
              <a:buNone/>
            </a:pPr>
            <a:r>
              <a:rPr lang="en-IN" sz="2000" dirty="0">
                <a:latin typeface="Arial" panose="020B0604020202020204" pitchFamily="34" charset="0"/>
                <a:cs typeface="Arial" panose="020B0604020202020204" pitchFamily="34" charset="0"/>
              </a:rPr>
              <a:t>	Syntax :- </a:t>
            </a:r>
            <a:r>
              <a:rPr lang="en-IN" sz="2000" dirty="0">
                <a:solidFill>
                  <a:schemeClr val="accent2">
                    <a:lumMod val="75000"/>
                  </a:schemeClr>
                </a:solidFill>
                <a:latin typeface="Arial" panose="020B0604020202020204" pitchFamily="34" charset="0"/>
                <a:cs typeface="Arial" panose="020B0604020202020204" pitchFamily="34" charset="0"/>
              </a:rPr>
              <a:t>select * from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a:t>
            </a:r>
          </a:p>
          <a:p>
            <a:pPr marL="0" indent="0">
              <a:buNone/>
            </a:pPr>
            <a:r>
              <a:rPr lang="en-IN" sz="2000" dirty="0">
                <a:latin typeface="Arial" panose="020B0604020202020204" pitchFamily="34" charset="0"/>
                <a:cs typeface="Arial" panose="020B0604020202020204" pitchFamily="34" charset="0"/>
              </a:rPr>
              <a:t>	Example :- </a:t>
            </a:r>
            <a:r>
              <a:rPr lang="en-IN" sz="2000" dirty="0">
                <a:solidFill>
                  <a:schemeClr val="accent2">
                    <a:lumMod val="75000"/>
                  </a:schemeClr>
                </a:solidFill>
                <a:latin typeface="Arial" panose="020B0604020202020204" pitchFamily="34" charset="0"/>
                <a:cs typeface="Arial" panose="020B0604020202020204" pitchFamily="34" charset="0"/>
              </a:rPr>
              <a:t>select * from </a:t>
            </a:r>
            <a:r>
              <a:rPr lang="en-IN" sz="2000" dirty="0">
                <a:latin typeface="Arial" panose="020B0604020202020204" pitchFamily="34" charset="0"/>
                <a:cs typeface="Arial" panose="020B0604020202020204" pitchFamily="34" charset="0"/>
              </a:rPr>
              <a:t>Employee;</a:t>
            </a: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7008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update data into tables?</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261256" y="824138"/>
            <a:ext cx="11640457" cy="5895975"/>
          </a:xfrm>
        </p:spPr>
        <p:txBody>
          <a:bodyPr>
            <a:normAutofit/>
          </a:bodyPr>
          <a:lstStyle/>
          <a:p>
            <a:pPr marL="0" indent="0">
              <a:buNone/>
            </a:pPr>
            <a:r>
              <a:rPr lang="en-IN" sz="2000" b="1" dirty="0">
                <a:latin typeface="Arial" panose="020B0604020202020204" pitchFamily="34" charset="0"/>
                <a:cs typeface="Arial" panose="020B0604020202020204" pitchFamily="34" charset="0"/>
              </a:rPr>
              <a:t>1. Update :- </a:t>
            </a:r>
          </a:p>
          <a:p>
            <a:pPr marL="0" indent="0">
              <a:buNone/>
            </a:pPr>
            <a:r>
              <a:rPr lang="en-IN" sz="20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sym typeface="Wingdings" panose="05000000000000000000" pitchFamily="2" charset="2"/>
              </a:rPr>
              <a:t></a:t>
            </a:r>
            <a:r>
              <a:rPr lang="en-IN" sz="2000" dirty="0">
                <a:latin typeface="Arial" panose="020B0604020202020204" pitchFamily="34" charset="0"/>
                <a:cs typeface="Arial" panose="020B0604020202020204" pitchFamily="34" charset="0"/>
              </a:rPr>
              <a:t>  Update entire column of the table.</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update</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set</a:t>
            </a:r>
            <a:r>
              <a:rPr lang="en-IN" sz="2000" dirty="0">
                <a:latin typeface="Arial" panose="020B0604020202020204" pitchFamily="34" charset="0"/>
                <a:cs typeface="Arial" panose="020B0604020202020204" pitchFamily="34" charset="0"/>
              </a:rPr>
              <a:t> column_name1=value, column_name2=value, …;</a:t>
            </a:r>
          </a:p>
          <a:p>
            <a:pPr marL="0" indent="0">
              <a:buNone/>
            </a:pPr>
            <a:r>
              <a:rPr lang="en-IN" sz="2000" dirty="0">
                <a:latin typeface="Arial" panose="020B0604020202020204" pitchFamily="34" charset="0"/>
                <a:cs typeface="Arial" panose="020B0604020202020204" pitchFamily="34" charset="0"/>
              </a:rPr>
              <a:t>	</a:t>
            </a:r>
            <a:r>
              <a:rPr lang="en-IN" sz="2000" dirty="0">
                <a:solidFill>
                  <a:schemeClr val="bg1">
                    <a:lumMod val="50000"/>
                  </a:schemeClr>
                </a:solidFill>
                <a:latin typeface="Arial" panose="020B0604020202020204" pitchFamily="34" charset="0"/>
                <a:cs typeface="Arial" panose="020B0604020202020204" pitchFamily="34" charset="0"/>
              </a:rPr>
              <a:t>Example :- </a:t>
            </a:r>
            <a:r>
              <a:rPr lang="en-IN" sz="2000" dirty="0">
                <a:solidFill>
                  <a:schemeClr val="accent2">
                    <a:lumMod val="75000"/>
                  </a:schemeClr>
                </a:solidFill>
                <a:latin typeface="Arial" panose="020B0604020202020204" pitchFamily="34" charset="0"/>
                <a:cs typeface="Arial" panose="020B0604020202020204" pitchFamily="34" charset="0"/>
              </a:rPr>
              <a:t>update</a:t>
            </a:r>
            <a:r>
              <a:rPr lang="en-IN" sz="2000" dirty="0">
                <a:latin typeface="Arial" panose="020B0604020202020204" pitchFamily="34" charset="0"/>
                <a:cs typeface="Arial" panose="020B0604020202020204" pitchFamily="34" charset="0"/>
              </a:rPr>
              <a:t> Employee </a:t>
            </a:r>
            <a:r>
              <a:rPr lang="en-IN" sz="2000" dirty="0">
                <a:solidFill>
                  <a:schemeClr val="accent2">
                    <a:lumMod val="75000"/>
                  </a:schemeClr>
                </a:solidFill>
                <a:latin typeface="Arial" panose="020B0604020202020204" pitchFamily="34" charset="0"/>
                <a:cs typeface="Arial" panose="020B0604020202020204" pitchFamily="34" charset="0"/>
              </a:rPr>
              <a:t>set</a:t>
            </a:r>
            <a:r>
              <a:rPr lang="en-IN" sz="2000" dirty="0">
                <a:latin typeface="Arial" panose="020B0604020202020204" pitchFamily="34" charset="0"/>
                <a:cs typeface="Arial" panose="020B0604020202020204" pitchFamily="34" charset="0"/>
              </a:rPr>
              <a:t> salary=salary+50;</a:t>
            </a:r>
          </a:p>
          <a:p>
            <a:pPr marL="0" indent="0">
              <a:buNone/>
            </a:pPr>
            <a:endParaRPr lang="en-IN" sz="2000" dirty="0">
              <a:latin typeface="Arial" panose="020B0604020202020204" pitchFamily="34" charset="0"/>
              <a:cs typeface="Arial" panose="020B0604020202020204" pitchFamily="34" charset="0"/>
            </a:endParaRPr>
          </a:p>
          <a:p>
            <a:pPr marL="0" indent="0">
              <a:buNone/>
            </a:pPr>
            <a:r>
              <a:rPr lang="en-IN" sz="20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sym typeface="Wingdings" panose="05000000000000000000" pitchFamily="2" charset="2"/>
              </a:rPr>
              <a:t>  Update selected cells of the column from table.</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rPr>
              <a:t>Syntax :- </a:t>
            </a:r>
            <a:r>
              <a:rPr lang="en-IN" sz="2000" dirty="0">
                <a:solidFill>
                  <a:schemeClr val="accent2">
                    <a:lumMod val="75000"/>
                  </a:schemeClr>
                </a:solidFill>
                <a:latin typeface="Arial" panose="020B0604020202020204" pitchFamily="34" charset="0"/>
                <a:cs typeface="Arial" panose="020B0604020202020204" pitchFamily="34" charset="0"/>
              </a:rPr>
              <a:t>update</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table_name</a:t>
            </a:r>
            <a:r>
              <a:rPr lang="en-IN" sz="2000" dirty="0">
                <a:latin typeface="Arial" panose="020B0604020202020204" pitchFamily="34" charset="0"/>
                <a:cs typeface="Arial" panose="020B0604020202020204" pitchFamily="34" charset="0"/>
              </a:rPr>
              <a:t> </a:t>
            </a:r>
            <a:r>
              <a:rPr lang="en-IN" sz="2000" dirty="0">
                <a:solidFill>
                  <a:schemeClr val="accent2">
                    <a:lumMod val="75000"/>
                  </a:schemeClr>
                </a:solidFill>
                <a:latin typeface="Arial" panose="020B0604020202020204" pitchFamily="34" charset="0"/>
                <a:cs typeface="Arial" panose="020B0604020202020204" pitchFamily="34" charset="0"/>
              </a:rPr>
              <a:t>set</a:t>
            </a:r>
            <a:r>
              <a:rPr lang="en-IN" sz="2000" dirty="0">
                <a:latin typeface="Arial" panose="020B0604020202020204" pitchFamily="34" charset="0"/>
                <a:cs typeface="Arial" panose="020B0604020202020204" pitchFamily="34" charset="0"/>
              </a:rPr>
              <a:t> column_name1=value, column_name2=value, … </a:t>
            </a:r>
            <a:r>
              <a:rPr lang="en-IN" sz="2000" dirty="0">
                <a:solidFill>
                  <a:schemeClr val="accent2">
                    <a:lumMod val="75000"/>
                  </a:schemeClr>
                </a:solidFill>
                <a:latin typeface="Arial" panose="020B0604020202020204" pitchFamily="34" charset="0"/>
                <a:cs typeface="Arial" panose="020B0604020202020204" pitchFamily="34" charset="0"/>
              </a:rPr>
              <a:t>where</a:t>
            </a:r>
            <a:r>
              <a:rPr lang="en-IN" sz="2000" dirty="0">
                <a:latin typeface="Arial" panose="020B0604020202020204" pitchFamily="34" charset="0"/>
                <a:cs typeface="Arial" panose="020B0604020202020204" pitchFamily="34" charset="0"/>
              </a:rPr>
              <a:t> condition;</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rPr>
              <a:t>         Example1 :- </a:t>
            </a:r>
            <a:r>
              <a:rPr lang="en-IN" sz="2000" dirty="0">
                <a:solidFill>
                  <a:schemeClr val="accent2">
                    <a:lumMod val="75000"/>
                  </a:schemeClr>
                </a:solidFill>
                <a:latin typeface="Arial" panose="020B0604020202020204" pitchFamily="34" charset="0"/>
                <a:cs typeface="Arial" panose="020B0604020202020204" pitchFamily="34" charset="0"/>
              </a:rPr>
              <a:t>update</a:t>
            </a:r>
            <a:r>
              <a:rPr lang="en-IN" sz="2000" dirty="0">
                <a:latin typeface="Arial" panose="020B0604020202020204" pitchFamily="34" charset="0"/>
                <a:cs typeface="Arial" panose="020B0604020202020204" pitchFamily="34" charset="0"/>
              </a:rPr>
              <a:t> Employee </a:t>
            </a:r>
            <a:r>
              <a:rPr lang="en-IN" sz="2000" dirty="0">
                <a:solidFill>
                  <a:schemeClr val="accent2">
                    <a:lumMod val="75000"/>
                  </a:schemeClr>
                </a:solidFill>
                <a:latin typeface="Arial" panose="020B0604020202020204" pitchFamily="34" charset="0"/>
                <a:cs typeface="Arial" panose="020B0604020202020204" pitchFamily="34" charset="0"/>
              </a:rPr>
              <a:t>set</a:t>
            </a:r>
            <a:r>
              <a:rPr lang="en-IN" sz="2000" dirty="0">
                <a:latin typeface="Arial" panose="020B0604020202020204" pitchFamily="34" charset="0"/>
                <a:cs typeface="Arial" panose="020B0604020202020204" pitchFamily="34" charset="0"/>
              </a:rPr>
              <a:t> salary=salary+50 </a:t>
            </a:r>
            <a:r>
              <a:rPr lang="en-IN" sz="2000" dirty="0">
                <a:solidFill>
                  <a:schemeClr val="accent2">
                    <a:lumMod val="75000"/>
                  </a:schemeClr>
                </a:solidFill>
                <a:latin typeface="Arial" panose="020B0604020202020204" pitchFamily="34" charset="0"/>
                <a:cs typeface="Arial" panose="020B0604020202020204" pitchFamily="34" charset="0"/>
              </a:rPr>
              <a:t>where</a:t>
            </a:r>
            <a:r>
              <a:rPr lang="en-IN" sz="2000" dirty="0">
                <a:latin typeface="Arial" panose="020B0604020202020204" pitchFamily="34" charset="0"/>
                <a:cs typeface="Arial" panose="020B0604020202020204" pitchFamily="34" charset="0"/>
              </a:rPr>
              <a:t> salary&lt;5000;</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rPr>
              <a:t>         Example2 :- </a:t>
            </a:r>
            <a:r>
              <a:rPr lang="en-IN" sz="2000" dirty="0">
                <a:solidFill>
                  <a:schemeClr val="accent2">
                    <a:lumMod val="75000"/>
                  </a:schemeClr>
                </a:solidFill>
                <a:latin typeface="Arial" panose="020B0604020202020204" pitchFamily="34" charset="0"/>
                <a:cs typeface="Arial" panose="020B0604020202020204" pitchFamily="34" charset="0"/>
              </a:rPr>
              <a:t>update</a:t>
            </a:r>
            <a:r>
              <a:rPr lang="en-IN" sz="2000" dirty="0">
                <a:latin typeface="Arial" panose="020B0604020202020204" pitchFamily="34" charset="0"/>
                <a:cs typeface="Arial" panose="020B0604020202020204" pitchFamily="34" charset="0"/>
              </a:rPr>
              <a:t> Employee </a:t>
            </a:r>
            <a:r>
              <a:rPr lang="en-IN" sz="2000" dirty="0">
                <a:solidFill>
                  <a:schemeClr val="accent2">
                    <a:lumMod val="75000"/>
                  </a:schemeClr>
                </a:solidFill>
                <a:latin typeface="Arial" panose="020B0604020202020204" pitchFamily="34" charset="0"/>
                <a:cs typeface="Arial" panose="020B0604020202020204" pitchFamily="34" charset="0"/>
              </a:rPr>
              <a:t>set</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emp_name</a:t>
            </a:r>
            <a:r>
              <a:rPr lang="en-IN" sz="2000" dirty="0">
                <a:latin typeface="Arial" panose="020B0604020202020204" pitchFamily="34" charset="0"/>
                <a:cs typeface="Arial" panose="020B0604020202020204" pitchFamily="34" charset="0"/>
              </a:rPr>
              <a:t>=“Amit”, salary=salary+50 </a:t>
            </a:r>
            <a:r>
              <a:rPr lang="en-IN" sz="2000" dirty="0">
                <a:solidFill>
                  <a:schemeClr val="accent2">
                    <a:lumMod val="75000"/>
                  </a:schemeClr>
                </a:solidFill>
                <a:latin typeface="Arial" panose="020B0604020202020204" pitchFamily="34" charset="0"/>
                <a:cs typeface="Arial" panose="020B0604020202020204" pitchFamily="34" charset="0"/>
              </a:rPr>
              <a:t>where</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emp_Id</a:t>
            </a:r>
            <a:r>
              <a:rPr lang="en-IN" sz="2000" dirty="0">
                <a:latin typeface="Arial" panose="020B0604020202020204" pitchFamily="34" charset="0"/>
                <a:cs typeface="Arial" panose="020B0604020202020204" pitchFamily="34" charset="0"/>
              </a:rPr>
              <a:t>=7;</a:t>
            </a: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8547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How to select(view) Data From Table?</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319314" y="824138"/>
            <a:ext cx="11582399" cy="5895975"/>
          </a:xfrm>
        </p:spPr>
        <p:txBody>
          <a:bodyPr>
            <a:normAutofit/>
          </a:bodyPr>
          <a:lstStyle/>
          <a:p>
            <a:pPr marL="0" indent="0">
              <a:buNone/>
            </a:pPr>
            <a:r>
              <a:rPr lang="en-IN" sz="2000" b="1" dirty="0">
                <a:latin typeface="Arial" panose="020B0604020202020204" pitchFamily="34" charset="0"/>
                <a:cs typeface="Arial" panose="020B0604020202020204" pitchFamily="34" charset="0"/>
              </a:rPr>
              <a:t>1. Select command :- </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all columns, all rows</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Employee;</a:t>
            </a:r>
          </a:p>
          <a:p>
            <a:pPr>
              <a:buFont typeface="Wingdings" panose="05000000000000000000" pitchFamily="2" charset="2"/>
              <a:buChar char="r"/>
            </a:pPr>
            <a:r>
              <a:rPr lang="en-IN" sz="2000" dirty="0">
                <a:latin typeface="Arial" panose="020B0604020202020204" pitchFamily="34" charset="0"/>
                <a:cs typeface="Arial" panose="020B0604020202020204" pitchFamily="34" charset="0"/>
                <a:sym typeface="Wingdings" panose="05000000000000000000" pitchFamily="2" charset="2"/>
              </a:rPr>
              <a:t>Selected columns, all rows</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column_name1, column_name2,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a:t>
            </a:r>
            <a:endPar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emp_name, </a:t>
            </a:r>
            <a:r>
              <a:rPr lang="en-IN" sz="2000" dirty="0" err="1">
                <a:latin typeface="Arial" panose="020B0604020202020204" pitchFamily="34" charset="0"/>
                <a:cs typeface="Arial" panose="020B0604020202020204" pitchFamily="34" charset="0"/>
                <a:sym typeface="Wingdings" panose="05000000000000000000" pitchFamily="2" charset="2"/>
              </a:rPr>
              <a:t>emp_id</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 </a:t>
            </a:r>
            <a:r>
              <a:rPr lang="en-IN" sz="2000" dirty="0">
                <a:latin typeface="Arial" panose="020B0604020202020204" pitchFamily="34" charset="0"/>
                <a:cs typeface="Arial" panose="020B0604020202020204" pitchFamily="34" charset="0"/>
                <a:sym typeface="Wingdings" panose="05000000000000000000" pitchFamily="2" charset="2"/>
              </a:rPr>
              <a:t>;</a:t>
            </a:r>
          </a:p>
          <a:p>
            <a:pPr>
              <a:buFont typeface="Wingdings" panose="05000000000000000000" pitchFamily="2" charset="2"/>
              <a:buChar char="r"/>
            </a:pPr>
            <a:r>
              <a:rPr lang="en-IN" sz="2000" dirty="0">
                <a:latin typeface="Arial" panose="020B0604020202020204" pitchFamily="34" charset="0"/>
                <a:cs typeface="Arial" panose="020B0604020202020204" pitchFamily="34" charset="0"/>
                <a:sym typeface="Wingdings" panose="05000000000000000000" pitchFamily="2" charset="2"/>
              </a:rPr>
              <a:t>All columns, Selected rows</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where</a:t>
            </a:r>
            <a:r>
              <a:rPr lang="en-IN" sz="2000" dirty="0">
                <a:latin typeface="Arial" panose="020B0604020202020204" pitchFamily="34" charset="0"/>
                <a:cs typeface="Arial" panose="020B0604020202020204" pitchFamily="34" charset="0"/>
                <a:sym typeface="Wingdings" panose="05000000000000000000" pitchFamily="2" charset="2"/>
              </a:rPr>
              <a:t> condition;</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Example1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where</a:t>
            </a:r>
            <a:r>
              <a:rPr lang="en-IN" sz="2000" dirty="0">
                <a:latin typeface="Arial" panose="020B0604020202020204" pitchFamily="34" charset="0"/>
                <a:cs typeface="Arial" panose="020B0604020202020204" pitchFamily="34" charset="0"/>
                <a:sym typeface="Wingdings" panose="05000000000000000000" pitchFamily="2" charset="2"/>
              </a:rPr>
              <a:t> salary&gt;4000;</a:t>
            </a:r>
            <a:endPar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Example2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where</a:t>
            </a:r>
            <a:r>
              <a:rPr lang="en-IN" sz="2000" dirty="0">
                <a:latin typeface="Arial" panose="020B0604020202020204" pitchFamily="34" charset="0"/>
                <a:cs typeface="Arial" panose="020B0604020202020204" pitchFamily="34" charset="0"/>
                <a:sym typeface="Wingdings" panose="05000000000000000000" pitchFamily="2" charset="2"/>
              </a:rPr>
              <a:t> salary&gt;4000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and</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emp_name</a:t>
            </a:r>
            <a:r>
              <a:rPr lang="en-IN" sz="2000" dirty="0">
                <a:latin typeface="Arial" panose="020B0604020202020204" pitchFamily="34" charset="0"/>
                <a:cs typeface="Arial" panose="020B0604020202020204" pitchFamily="34" charset="0"/>
                <a:sym typeface="Wingdings" panose="05000000000000000000" pitchFamily="2" charset="2"/>
              </a:rPr>
              <a:t>=“Rahul”;</a:t>
            </a:r>
          </a:p>
          <a:p>
            <a:pPr>
              <a:buFont typeface="Wingdings" panose="05000000000000000000" pitchFamily="2" charset="2"/>
              <a:buChar char="r"/>
            </a:pPr>
            <a:r>
              <a:rPr lang="en-IN" sz="2000" dirty="0">
                <a:latin typeface="Arial" panose="020B0604020202020204" pitchFamily="34" charset="0"/>
                <a:cs typeface="Arial" panose="020B0604020202020204" pitchFamily="34" charset="0"/>
                <a:sym typeface="Wingdings" panose="05000000000000000000" pitchFamily="2" charset="2"/>
              </a:rPr>
              <a:t>Selected columns, Selected rows</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column_name1, column_name2,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where</a:t>
            </a:r>
            <a:r>
              <a:rPr lang="en-IN" sz="2000" dirty="0">
                <a:latin typeface="Arial" panose="020B0604020202020204" pitchFamily="34" charset="0"/>
                <a:cs typeface="Arial" panose="020B0604020202020204" pitchFamily="34" charset="0"/>
                <a:sym typeface="Wingdings" panose="05000000000000000000" pitchFamily="2" charset="2"/>
              </a:rPr>
              <a:t> condition;</a:t>
            </a:r>
            <a:endPar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select</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emp_name</a:t>
            </a:r>
            <a:r>
              <a:rPr lang="en-IN" sz="2000" dirty="0">
                <a:latin typeface="Arial" panose="020B0604020202020204" pitchFamily="34" charset="0"/>
                <a:cs typeface="Arial" panose="020B0604020202020204" pitchFamily="34" charset="0"/>
                <a:sym typeface="Wingdings" panose="05000000000000000000" pitchFamily="2" charset="2"/>
              </a:rPr>
              <a:t>, salary, age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from</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where</a:t>
            </a:r>
            <a:r>
              <a:rPr lang="en-IN" sz="2000" dirty="0">
                <a:latin typeface="Arial" panose="020B0604020202020204" pitchFamily="34" charset="0"/>
                <a:cs typeface="Arial" panose="020B0604020202020204" pitchFamily="34" charset="0"/>
                <a:sym typeface="Wingdings" panose="05000000000000000000" pitchFamily="2" charset="2"/>
              </a:rPr>
              <a:t> condition;</a:t>
            </a:r>
            <a:endPar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endParaRPr>
          </a:p>
          <a:p>
            <a:pPr marL="0" indent="0">
              <a:buNone/>
            </a:pPr>
            <a:endPar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956208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Constraint in MySQL</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319314" y="824138"/>
            <a:ext cx="11582399" cy="5895975"/>
          </a:xfrm>
        </p:spPr>
        <p:txBody>
          <a:bodyPr>
            <a:normAutofit/>
          </a:bodyPr>
          <a:lstStyle/>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Constraint are used to set the limit on the type of data that you are insert into the table.</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Constraint can be specified when a table is created (with the CREATE TABLE statement) or after  </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table is created (with the ALTER TABLE statement).</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Constraint can be apply only column level (i.e. only on columns).</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Types of Constraint –</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1. NOT NULL</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2. UNIQUE</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3. PRIMARY KEY</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4. FOREIGAN KEY</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5. DEFAULT</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6. CHECK</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a:t>
            </a:r>
          </a:p>
          <a:p>
            <a:pPr marL="0" indent="0">
              <a:buNone/>
            </a:pPr>
            <a:endPar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3086997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NOT NULL Constraint</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319314" y="824138"/>
            <a:ext cx="11582399" cy="5895975"/>
          </a:xfrm>
        </p:spPr>
        <p:txBody>
          <a:bodyPr>
            <a:normAutofit fontScale="92500" lnSpcReduction="10000"/>
          </a:bodyPr>
          <a:lstStyle/>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NOT NULL constraint enforces a column to NOT accept NULL values.</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NOT NULL constraint enforces a field to always contain a null value. This means that you cannot insert a new record, or update a record without adding a value to this field.</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You can define any of the column as NOT NULL (when you are create a new table) in the following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column_name1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NOT NULL</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column_name2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NOT NULL</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column_name3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Example :-</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err="1">
                <a:latin typeface="Arial" panose="020B0604020202020204" pitchFamily="34" charset="0"/>
                <a:cs typeface="Arial" panose="020B0604020202020204" pitchFamily="34" charset="0"/>
                <a:sym typeface="Wingdings" panose="05000000000000000000" pitchFamily="2" charset="2"/>
              </a:rPr>
              <a:t>EmpId</a:t>
            </a:r>
            <a:r>
              <a:rPr lang="en-IN" sz="2000" dirty="0">
                <a:latin typeface="Arial" panose="020B0604020202020204" pitchFamily="34" charset="0"/>
                <a:cs typeface="Arial" panose="020B0604020202020204" pitchFamily="34" charset="0"/>
                <a:sym typeface="Wingdings" panose="05000000000000000000" pitchFamily="2" charset="2"/>
              </a:rPr>
              <a:t> int(3)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NOT NULL</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Ename</a:t>
            </a:r>
            <a:r>
              <a:rPr lang="en-IN" sz="2000" dirty="0">
                <a:latin typeface="Arial" panose="020B0604020202020204" pitchFamily="34" charset="0"/>
                <a:cs typeface="Arial" panose="020B0604020202020204" pitchFamily="34" charset="0"/>
                <a:sym typeface="Wingdings" panose="05000000000000000000" pitchFamily="2" charset="2"/>
              </a:rPr>
              <a:t> varchar(10), salary float(5,2));</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Declare NOT NULL constraint using alter command (after table creation).</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NOT NULL</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EmpId</a:t>
            </a:r>
            <a:r>
              <a:rPr lang="en-IN" sz="2000" dirty="0">
                <a:latin typeface="Arial" panose="020B0604020202020204" pitchFamily="34" charset="0"/>
                <a:cs typeface="Arial" panose="020B0604020202020204" pitchFamily="34" charset="0"/>
                <a:sym typeface="Wingdings" panose="05000000000000000000" pitchFamily="2" charset="2"/>
              </a:rPr>
              <a:t> int(3)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NOT NULL</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Remove NOT NULL constraint from column of table using alter command (after set constraint).</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EmpId</a:t>
            </a:r>
            <a:r>
              <a:rPr lang="en-IN" sz="2000" dirty="0">
                <a:latin typeface="Arial" panose="020B0604020202020204" pitchFamily="34" charset="0"/>
                <a:cs typeface="Arial" panose="020B0604020202020204" pitchFamily="34" charset="0"/>
                <a:sym typeface="Wingdings" panose="05000000000000000000" pitchFamily="2" charset="2"/>
              </a:rPr>
              <a:t> int(3);</a:t>
            </a:r>
          </a:p>
        </p:txBody>
      </p:sp>
    </p:spTree>
    <p:extLst>
      <p:ext uri="{BB962C8B-B14F-4D97-AF65-F5344CB8AC3E}">
        <p14:creationId xmlns:p14="http://schemas.microsoft.com/office/powerpoint/2010/main" val="1861975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UNIQUE Constraint</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319314" y="824138"/>
            <a:ext cx="11582399" cy="5895975"/>
          </a:xfrm>
        </p:spPr>
        <p:txBody>
          <a:bodyPr>
            <a:normAutofit fontScale="85000" lnSpcReduction="20000"/>
          </a:bodyPr>
          <a:lstStyle/>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UNIQUE constraint uniquely identifies each record in database table.</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UNIQUE and PRIMARY KEY constraints both provide a guarantee for uniqueness for a column or set of columns.</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Note that you can have many UNIQUE constraints per table, but only one PRIMARY KEY constraint per table.</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You can define any of the column as UNIQUE (when you are create a new table) in the following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column_name1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column_name2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column_name3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(column_name1)</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Example :-</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a:latin typeface="Arial" panose="020B0604020202020204" pitchFamily="34" charset="0"/>
                <a:cs typeface="Arial" panose="020B0604020202020204" pitchFamily="34" charset="0"/>
                <a:sym typeface="Wingdings" panose="05000000000000000000" pitchFamily="2" charset="2"/>
              </a:rPr>
              <a:t>Employee (empid int(3)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ename</a:t>
            </a:r>
            <a:r>
              <a:rPr lang="en-IN" sz="2000" dirty="0">
                <a:latin typeface="Arial" panose="020B0604020202020204" pitchFamily="34" charset="0"/>
                <a:cs typeface="Arial" panose="020B0604020202020204" pitchFamily="34" charset="0"/>
                <a:sym typeface="Wingdings" panose="05000000000000000000" pitchFamily="2" charset="2"/>
              </a:rPr>
              <a:t> varchar(10),  salary float(5,2));</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Declare UNIQUE constraint using alter command (after table creation).</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ADD UNIQUE</a:t>
            </a:r>
            <a:r>
              <a:rPr lang="en-IN" sz="2000" dirty="0">
                <a:latin typeface="Arial" panose="020B0604020202020204" pitchFamily="34" charset="0"/>
                <a:cs typeface="Arial" panose="020B0604020202020204" pitchFamily="34" charset="0"/>
                <a:sym typeface="Wingdings" panose="05000000000000000000" pitchFamily="2" charset="2"/>
              </a:rPr>
              <a:t>(</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ADD UNIQUE</a:t>
            </a:r>
            <a:r>
              <a:rPr lang="en-IN" sz="2000" dirty="0">
                <a:latin typeface="Arial" panose="020B0604020202020204" pitchFamily="34" charset="0"/>
                <a:cs typeface="Arial" panose="020B0604020202020204" pitchFamily="34" charset="0"/>
                <a:sym typeface="Wingdings" panose="05000000000000000000" pitchFamily="2" charset="2"/>
              </a:rPr>
              <a:t>(emp_id);</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Remove UNIQUE constraint from column of table using alter command (after set constraint).</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empid int(3);</a:t>
            </a:r>
          </a:p>
        </p:txBody>
      </p:sp>
    </p:spTree>
    <p:extLst>
      <p:ext uri="{BB962C8B-B14F-4D97-AF65-F5344CB8AC3E}">
        <p14:creationId xmlns:p14="http://schemas.microsoft.com/office/powerpoint/2010/main" val="245185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C63F-1793-4E4D-8993-04D915E50C16}"/>
              </a:ext>
            </a:extLst>
          </p:cNvPr>
          <p:cNvSpPr>
            <a:spLocks noGrp="1"/>
          </p:cNvSpPr>
          <p:nvPr>
            <p:ph type="title"/>
          </p:nvPr>
        </p:nvSpPr>
        <p:spPr>
          <a:xfrm>
            <a:off x="1115785" y="15648"/>
            <a:ext cx="9960429" cy="665389"/>
          </a:xfrm>
        </p:spPr>
        <p:txBody>
          <a:bodyPr>
            <a:normAutofit/>
          </a:bodyPr>
          <a:lstStyle/>
          <a:p>
            <a:pPr algn="ctr"/>
            <a:r>
              <a:rPr lang="en-IN" sz="3200" i="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PRIMARY KEY Constraint</a:t>
            </a:r>
          </a:p>
        </p:txBody>
      </p:sp>
      <p:sp>
        <p:nvSpPr>
          <p:cNvPr id="3" name="Content Placeholder 2">
            <a:extLst>
              <a:ext uri="{FF2B5EF4-FFF2-40B4-BE49-F238E27FC236}">
                <a16:creationId xmlns:a16="http://schemas.microsoft.com/office/drawing/2014/main" id="{54AFF8F9-A16C-415E-A4E7-0D867D046AD8}"/>
              </a:ext>
            </a:extLst>
          </p:cNvPr>
          <p:cNvSpPr>
            <a:spLocks noGrp="1"/>
          </p:cNvSpPr>
          <p:nvPr>
            <p:ph idx="1"/>
          </p:nvPr>
        </p:nvSpPr>
        <p:spPr>
          <a:xfrm>
            <a:off x="319314" y="824138"/>
            <a:ext cx="11582399" cy="5895975"/>
          </a:xfrm>
        </p:spPr>
        <p:txBody>
          <a:bodyPr>
            <a:normAutofit fontScale="85000" lnSpcReduction="20000"/>
          </a:bodyPr>
          <a:lstStyle/>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UNIQUE constraint uniquely identifies each record in database table.</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The UNIQUE and PRIMARY KEY constraints both provide a guarantee for uniqueness for a column or set of columns.</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Note that you can have many UNIQUE constraints per table, but only one PRIMARY KEY constraint per table.</a:t>
            </a:r>
          </a:p>
          <a:p>
            <a:pPr>
              <a:buFont typeface="Wingdings" panose="05000000000000000000" pitchFamily="2" charset="2"/>
              <a:buChar char="r"/>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You can define any of the column as UNIQUE (when you are create a new table) in the following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column_name1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column_name2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column_name3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(column_name1)</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    );</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Example :-</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CREATE TABLE </a:t>
            </a:r>
            <a:r>
              <a:rPr lang="en-IN" sz="2000" dirty="0">
                <a:latin typeface="Arial" panose="020B0604020202020204" pitchFamily="34" charset="0"/>
                <a:cs typeface="Arial" panose="020B0604020202020204" pitchFamily="34" charset="0"/>
                <a:sym typeface="Wingdings" panose="05000000000000000000" pitchFamily="2" charset="2"/>
              </a:rPr>
              <a:t>Employee (empid int(3)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ename</a:t>
            </a:r>
            <a:r>
              <a:rPr lang="en-IN" sz="2000" dirty="0">
                <a:latin typeface="Arial" panose="020B0604020202020204" pitchFamily="34" charset="0"/>
                <a:cs typeface="Arial" panose="020B0604020202020204" pitchFamily="34" charset="0"/>
                <a:sym typeface="Wingdings" panose="05000000000000000000" pitchFamily="2" charset="2"/>
              </a:rPr>
              <a:t> varchar(10), salary float(5,2));</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Declare UNIQUE constraint using alter command (after table creation).</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UNIQUE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ADD UNIQUE</a:t>
            </a:r>
            <a:r>
              <a:rPr lang="en-IN" sz="2000" dirty="0">
                <a:latin typeface="Arial" panose="020B0604020202020204" pitchFamily="34" charset="0"/>
                <a:cs typeface="Arial" panose="020B0604020202020204" pitchFamily="34" charset="0"/>
                <a:sym typeface="Wingdings" panose="05000000000000000000" pitchFamily="2" charset="2"/>
              </a:rPr>
              <a:t>(</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ADD UNIQUE</a:t>
            </a:r>
            <a:r>
              <a:rPr lang="en-IN" sz="2000" dirty="0">
                <a:latin typeface="Arial" panose="020B0604020202020204" pitchFamily="34" charset="0"/>
                <a:cs typeface="Arial" panose="020B0604020202020204" pitchFamily="34" charset="0"/>
                <a:sym typeface="Wingdings" panose="05000000000000000000" pitchFamily="2" charset="2"/>
              </a:rPr>
              <a:t>(emp_id);</a:t>
            </a:r>
          </a:p>
          <a:p>
            <a:pPr marL="0" indent="0">
              <a:buNone/>
            </a:pPr>
            <a:r>
              <a:rPr lang="en-IN" sz="2000" dirty="0">
                <a:solidFill>
                  <a:schemeClr val="accent1">
                    <a:lumMod val="75000"/>
                  </a:schemeClr>
                </a:solidFill>
                <a:latin typeface="Arial" panose="020B0604020202020204" pitchFamily="34" charset="0"/>
                <a:cs typeface="Arial" panose="020B0604020202020204" pitchFamily="34" charset="0"/>
                <a:sym typeface="Wingdings" panose="05000000000000000000" pitchFamily="2" charset="2"/>
              </a:rPr>
              <a:t> Remove UNIQUE constraint from column of table using alter command (after set constraint).</a:t>
            </a:r>
            <a:endParaRPr lang="en-IN"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Syntax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err="1">
                <a:latin typeface="Arial" panose="020B0604020202020204" pitchFamily="34" charset="0"/>
                <a:cs typeface="Arial" panose="020B0604020202020204" pitchFamily="34" charset="0"/>
                <a:sym typeface="Wingdings" panose="05000000000000000000" pitchFamily="2" charset="2"/>
              </a:rPr>
              <a:t>table_name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column_name</a:t>
            </a:r>
            <a:r>
              <a:rPr lang="en-IN" sz="2000" dirty="0">
                <a:latin typeface="Arial" panose="020B0604020202020204" pitchFamily="34" charset="0"/>
                <a:cs typeface="Arial" panose="020B0604020202020204" pitchFamily="34" charset="0"/>
                <a:sym typeface="Wingdings" panose="05000000000000000000" pitchFamily="2" charset="2"/>
              </a:rPr>
              <a:t> </a:t>
            </a:r>
            <a:r>
              <a:rPr lang="en-IN" sz="2000" dirty="0" err="1">
                <a:latin typeface="Arial" panose="020B0604020202020204" pitchFamily="34" charset="0"/>
                <a:cs typeface="Arial" panose="020B0604020202020204" pitchFamily="34" charset="0"/>
                <a:sym typeface="Wingdings" panose="05000000000000000000" pitchFamily="2" charset="2"/>
              </a:rPr>
              <a:t>data_type</a:t>
            </a:r>
            <a:r>
              <a:rPr lang="en-IN" sz="2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IN" sz="2000" dirty="0">
                <a:solidFill>
                  <a:schemeClr val="bg1">
                    <a:lumMod val="50000"/>
                  </a:schemeClr>
                </a:solidFill>
                <a:latin typeface="Arial" panose="020B0604020202020204" pitchFamily="34" charset="0"/>
                <a:cs typeface="Arial" panose="020B0604020202020204" pitchFamily="34" charset="0"/>
                <a:sym typeface="Wingdings" panose="05000000000000000000" pitchFamily="2" charset="2"/>
              </a:rPr>
              <a:t>  Example :-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ALTER TABLE </a:t>
            </a:r>
            <a:r>
              <a:rPr lang="en-IN" sz="2000" dirty="0">
                <a:latin typeface="Arial" panose="020B0604020202020204" pitchFamily="34" charset="0"/>
                <a:cs typeface="Arial" panose="020B0604020202020204" pitchFamily="34" charset="0"/>
                <a:sym typeface="Wingdings" panose="05000000000000000000" pitchFamily="2" charset="2"/>
              </a:rPr>
              <a:t>Employee </a:t>
            </a:r>
            <a:r>
              <a:rPr lang="en-IN" sz="2000" dirty="0">
                <a:solidFill>
                  <a:schemeClr val="accent2">
                    <a:lumMod val="75000"/>
                  </a:schemeClr>
                </a:solidFill>
                <a:latin typeface="Arial" panose="020B0604020202020204" pitchFamily="34" charset="0"/>
                <a:cs typeface="Arial" panose="020B0604020202020204" pitchFamily="34" charset="0"/>
                <a:sym typeface="Wingdings" panose="05000000000000000000" pitchFamily="2" charset="2"/>
              </a:rPr>
              <a:t>MODIFY</a:t>
            </a:r>
            <a:r>
              <a:rPr lang="en-IN" sz="2000" dirty="0">
                <a:latin typeface="Arial" panose="020B0604020202020204" pitchFamily="34" charset="0"/>
                <a:cs typeface="Arial" panose="020B0604020202020204" pitchFamily="34" charset="0"/>
                <a:sym typeface="Wingdings" panose="05000000000000000000" pitchFamily="2" charset="2"/>
              </a:rPr>
              <a:t> empid int(3);</a:t>
            </a:r>
          </a:p>
        </p:txBody>
      </p:sp>
    </p:spTree>
    <p:extLst>
      <p:ext uri="{BB962C8B-B14F-4D97-AF65-F5344CB8AC3E}">
        <p14:creationId xmlns:p14="http://schemas.microsoft.com/office/powerpoint/2010/main" val="3861150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5104</TotalTime>
  <Words>3105</Words>
  <Application>Microsoft Office PowerPoint</Application>
  <PresentationFormat>Widescreen</PresentationFormat>
  <Paragraphs>320</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vt:lpstr>
      <vt:lpstr>Calibri</vt:lpstr>
      <vt:lpstr>Calibri Light</vt:lpstr>
      <vt:lpstr>inter-regular</vt:lpstr>
      <vt:lpstr>Söhne</vt:lpstr>
      <vt:lpstr>Söhne Mono</vt:lpstr>
      <vt:lpstr>Wingdings</vt:lpstr>
      <vt:lpstr>Office Theme</vt:lpstr>
      <vt:lpstr>PowerPoint Presentation</vt:lpstr>
      <vt:lpstr>How to run MySQL?</vt:lpstr>
      <vt:lpstr>Data types in MySQL Database</vt:lpstr>
      <vt:lpstr>PowerPoint Presentation</vt:lpstr>
      <vt:lpstr>PowerPoint Presentation</vt:lpstr>
      <vt:lpstr>ENUM data type Syntax &amp; Example</vt:lpstr>
      <vt:lpstr>Set data type Syntax &amp; Example</vt:lpstr>
      <vt:lpstr>Difference between Set and Enum.</vt:lpstr>
      <vt:lpstr>PowerPoint Presentation</vt:lpstr>
      <vt:lpstr>Difference between MySQL and sql?</vt:lpstr>
      <vt:lpstr>How to Create and Remove Database?</vt:lpstr>
      <vt:lpstr>How to Create and Remove Tables?</vt:lpstr>
      <vt:lpstr>How to Insert and Delete data into tables?</vt:lpstr>
      <vt:lpstr>How to update data into tables?</vt:lpstr>
      <vt:lpstr>How to select(view) Data From Table?</vt:lpstr>
      <vt:lpstr>Constraint in MySQL</vt:lpstr>
      <vt:lpstr>NOT NULL Constraint</vt:lpstr>
      <vt:lpstr>UNIQUE Constraint</vt:lpstr>
      <vt:lpstr>PRIMARY KEY Constraint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jetking</dc:creator>
  <cp:lastModifiedBy>jetking</cp:lastModifiedBy>
  <cp:revision>155</cp:revision>
  <dcterms:created xsi:type="dcterms:W3CDTF">2022-12-26T01:38:14Z</dcterms:created>
  <dcterms:modified xsi:type="dcterms:W3CDTF">2023-12-06T10:46:33Z</dcterms:modified>
</cp:coreProperties>
</file>